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5"/>
  </p:sldMasterIdLst>
  <p:notesMasterIdLst>
    <p:notesMasterId r:id="rId18"/>
  </p:notesMasterIdLst>
  <p:handoutMasterIdLst>
    <p:handoutMasterId r:id="rId19"/>
  </p:handoutMasterIdLst>
  <p:sldIdLst>
    <p:sldId id="256" r:id="rId6"/>
    <p:sldId id="265" r:id="rId7"/>
    <p:sldId id="267" r:id="rId8"/>
    <p:sldId id="258" r:id="rId9"/>
    <p:sldId id="266" r:id="rId10"/>
    <p:sldId id="259" r:id="rId11"/>
    <p:sldId id="260" r:id="rId12"/>
    <p:sldId id="261" r:id="rId13"/>
    <p:sldId id="268" r:id="rId14"/>
    <p:sldId id="262" r:id="rId15"/>
    <p:sldId id="263" r:id="rId16"/>
    <p:sldId id="264" r:id="rId17"/>
  </p:sldIdLst>
  <p:sldSz cx="12192000" cy="6858000"/>
  <p:notesSz cx="6858000" cy="9144000"/>
  <p:custDataLst>
    <p:tags r:id="rId2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86439" autoAdjust="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adimir Dimitrov" userId="f8472e96-b36b-4d49-bbdd-7f39cfce14f2" providerId="ADAL" clId="{A1D24235-CBEE-4B27-840C-D85447D0D3DD}"/>
    <pc:docChg chg="undo custSel addSld modSld">
      <pc:chgData name="Vladimir Dimitrov" userId="f8472e96-b36b-4d49-bbdd-7f39cfce14f2" providerId="ADAL" clId="{A1D24235-CBEE-4B27-840C-D85447D0D3DD}" dt="2025-06-26T17:39:38.662" v="2929" actId="20577"/>
      <pc:docMkLst>
        <pc:docMk/>
      </pc:docMkLst>
      <pc:sldChg chg="modSp mod">
        <pc:chgData name="Vladimir Dimitrov" userId="f8472e96-b36b-4d49-bbdd-7f39cfce14f2" providerId="ADAL" clId="{A1D24235-CBEE-4B27-840C-D85447D0D3DD}" dt="2025-06-26T17:39:38.662" v="2929" actId="20577"/>
        <pc:sldMkLst>
          <pc:docMk/>
          <pc:sldMk cId="2130198522" sldId="256"/>
        </pc:sldMkLst>
        <pc:spChg chg="mod">
          <ac:chgData name="Vladimir Dimitrov" userId="f8472e96-b36b-4d49-bbdd-7f39cfce14f2" providerId="ADAL" clId="{A1D24235-CBEE-4B27-840C-D85447D0D3DD}" dt="2025-06-26T17:39:38.662" v="2929" actId="20577"/>
          <ac:spMkLst>
            <pc:docMk/>
            <pc:sldMk cId="2130198522" sldId="256"/>
            <ac:spMk id="3" creationId="{00000000-0000-0000-0000-000000000000}"/>
          </ac:spMkLst>
        </pc:spChg>
      </pc:sldChg>
      <pc:sldChg chg="modSp mod">
        <pc:chgData name="Vladimir Dimitrov" userId="f8472e96-b36b-4d49-bbdd-7f39cfce14f2" providerId="ADAL" clId="{A1D24235-CBEE-4B27-840C-D85447D0D3DD}" dt="2025-06-26T17:31:40.029" v="2326" actId="20577"/>
        <pc:sldMkLst>
          <pc:docMk/>
          <pc:sldMk cId="390272799" sldId="258"/>
        </pc:sldMkLst>
        <pc:spChg chg="mod">
          <ac:chgData name="Vladimir Dimitrov" userId="f8472e96-b36b-4d49-bbdd-7f39cfce14f2" providerId="ADAL" clId="{A1D24235-CBEE-4B27-840C-D85447D0D3DD}" dt="2025-06-26T17:30:03.350" v="2116" actId="20577"/>
          <ac:spMkLst>
            <pc:docMk/>
            <pc:sldMk cId="390272799" sldId="258"/>
            <ac:spMk id="4" creationId="{00000000-0000-0000-0000-000000000000}"/>
          </ac:spMkLst>
        </pc:spChg>
        <pc:spChg chg="mod">
          <ac:chgData name="Vladimir Dimitrov" userId="f8472e96-b36b-4d49-bbdd-7f39cfce14f2" providerId="ADAL" clId="{A1D24235-CBEE-4B27-840C-D85447D0D3DD}" dt="2025-06-26T17:31:40.029" v="2326" actId="20577"/>
          <ac:spMkLst>
            <pc:docMk/>
            <pc:sldMk cId="390272799" sldId="258"/>
            <ac:spMk id="5" creationId="{00000000-0000-0000-0000-000000000000}"/>
          </ac:spMkLst>
        </pc:spChg>
      </pc:sldChg>
      <pc:sldChg chg="modSp mod">
        <pc:chgData name="Vladimir Dimitrov" userId="f8472e96-b36b-4d49-bbdd-7f39cfce14f2" providerId="ADAL" clId="{A1D24235-CBEE-4B27-840C-D85447D0D3DD}" dt="2025-06-26T17:36:41.835" v="2760" actId="20577"/>
        <pc:sldMkLst>
          <pc:docMk/>
          <pc:sldMk cId="1794768744" sldId="259"/>
        </pc:sldMkLst>
        <pc:spChg chg="mod">
          <ac:chgData name="Vladimir Dimitrov" userId="f8472e96-b36b-4d49-bbdd-7f39cfce14f2" providerId="ADAL" clId="{A1D24235-CBEE-4B27-840C-D85447D0D3DD}" dt="2025-06-26T17:36:41.835" v="2760" actId="20577"/>
          <ac:spMkLst>
            <pc:docMk/>
            <pc:sldMk cId="1794768744" sldId="259"/>
            <ac:spMk id="2" creationId="{00000000-0000-0000-0000-000000000000}"/>
          </ac:spMkLst>
        </pc:spChg>
        <pc:spChg chg="mod">
          <ac:chgData name="Vladimir Dimitrov" userId="f8472e96-b36b-4d49-bbdd-7f39cfce14f2" providerId="ADAL" clId="{A1D24235-CBEE-4B27-840C-D85447D0D3DD}" dt="2025-06-26T17:32:01.461" v="2356" actId="20577"/>
          <ac:spMkLst>
            <pc:docMk/>
            <pc:sldMk cId="1794768744" sldId="259"/>
            <ac:spMk id="3" creationId="{00000000-0000-0000-0000-000000000000}"/>
          </ac:spMkLst>
        </pc:spChg>
      </pc:sldChg>
      <pc:sldChg chg="modSp mod">
        <pc:chgData name="Vladimir Dimitrov" userId="f8472e96-b36b-4d49-bbdd-7f39cfce14f2" providerId="ADAL" clId="{A1D24235-CBEE-4B27-840C-D85447D0D3DD}" dt="2025-06-26T17:34:00.022" v="2473" actId="20577"/>
        <pc:sldMkLst>
          <pc:docMk/>
          <pc:sldMk cId="3807748171" sldId="260"/>
        </pc:sldMkLst>
        <pc:spChg chg="mod">
          <ac:chgData name="Vladimir Dimitrov" userId="f8472e96-b36b-4d49-bbdd-7f39cfce14f2" providerId="ADAL" clId="{A1D24235-CBEE-4B27-840C-D85447D0D3DD}" dt="2025-06-26T17:34:00.022" v="2473" actId="20577"/>
          <ac:spMkLst>
            <pc:docMk/>
            <pc:sldMk cId="3807748171" sldId="260"/>
            <ac:spMk id="2" creationId="{00000000-0000-0000-0000-000000000000}"/>
          </ac:spMkLst>
        </pc:spChg>
        <pc:spChg chg="mod">
          <ac:chgData name="Vladimir Dimitrov" userId="f8472e96-b36b-4d49-bbdd-7f39cfce14f2" providerId="ADAL" clId="{A1D24235-CBEE-4B27-840C-D85447D0D3DD}" dt="2025-06-26T17:32:18.570" v="2387" actId="20577"/>
          <ac:spMkLst>
            <pc:docMk/>
            <pc:sldMk cId="3807748171" sldId="260"/>
            <ac:spMk id="3" creationId="{00000000-0000-0000-0000-000000000000}"/>
          </ac:spMkLst>
        </pc:spChg>
      </pc:sldChg>
      <pc:sldChg chg="modSp mod">
        <pc:chgData name="Vladimir Dimitrov" userId="f8472e96-b36b-4d49-bbdd-7f39cfce14f2" providerId="ADAL" clId="{A1D24235-CBEE-4B27-840C-D85447D0D3DD}" dt="2025-06-26T17:33:32.459" v="2464" actId="20577"/>
        <pc:sldMkLst>
          <pc:docMk/>
          <pc:sldMk cId="462823669" sldId="261"/>
        </pc:sldMkLst>
        <pc:spChg chg="mod">
          <ac:chgData name="Vladimir Dimitrov" userId="f8472e96-b36b-4d49-bbdd-7f39cfce14f2" providerId="ADAL" clId="{A1D24235-CBEE-4B27-840C-D85447D0D3DD}" dt="2025-06-26T17:33:32.459" v="2464" actId="20577"/>
          <ac:spMkLst>
            <pc:docMk/>
            <pc:sldMk cId="462823669" sldId="261"/>
            <ac:spMk id="2" creationId="{00000000-0000-0000-0000-000000000000}"/>
          </ac:spMkLst>
        </pc:spChg>
        <pc:spChg chg="mod">
          <ac:chgData name="Vladimir Dimitrov" userId="f8472e96-b36b-4d49-bbdd-7f39cfce14f2" providerId="ADAL" clId="{A1D24235-CBEE-4B27-840C-D85447D0D3DD}" dt="2025-06-26T17:22:35.335" v="1628" actId="20577"/>
          <ac:spMkLst>
            <pc:docMk/>
            <pc:sldMk cId="462823669" sldId="261"/>
            <ac:spMk id="3" creationId="{00000000-0000-0000-0000-000000000000}"/>
          </ac:spMkLst>
        </pc:spChg>
      </pc:sldChg>
      <pc:sldChg chg="modSp mod">
        <pc:chgData name="Vladimir Dimitrov" userId="f8472e96-b36b-4d49-bbdd-7f39cfce14f2" providerId="ADAL" clId="{A1D24235-CBEE-4B27-840C-D85447D0D3DD}" dt="2025-06-26T17:24:35.960" v="1784" actId="20577"/>
        <pc:sldMkLst>
          <pc:docMk/>
          <pc:sldMk cId="2116058707" sldId="262"/>
        </pc:sldMkLst>
        <pc:spChg chg="mod">
          <ac:chgData name="Vladimir Dimitrov" userId="f8472e96-b36b-4d49-bbdd-7f39cfce14f2" providerId="ADAL" clId="{A1D24235-CBEE-4B27-840C-D85447D0D3DD}" dt="2025-06-26T17:23:22.012" v="1646" actId="20577"/>
          <ac:spMkLst>
            <pc:docMk/>
            <pc:sldMk cId="2116058707" sldId="262"/>
            <ac:spMk id="2" creationId="{00000000-0000-0000-0000-000000000000}"/>
          </ac:spMkLst>
        </pc:spChg>
        <pc:graphicFrameChg chg="modGraphic">
          <ac:chgData name="Vladimir Dimitrov" userId="f8472e96-b36b-4d49-bbdd-7f39cfce14f2" providerId="ADAL" clId="{A1D24235-CBEE-4B27-840C-D85447D0D3DD}" dt="2025-06-26T17:24:35.960" v="1784" actId="20577"/>
          <ac:graphicFrameMkLst>
            <pc:docMk/>
            <pc:sldMk cId="2116058707" sldId="262"/>
            <ac:graphicFrameMk id="6" creationId="{00000000-0000-0000-0000-000000000000}"/>
          </ac:graphicFrameMkLst>
        </pc:graphicFrameChg>
      </pc:sldChg>
      <pc:sldChg chg="modSp mod">
        <pc:chgData name="Vladimir Dimitrov" userId="f8472e96-b36b-4d49-bbdd-7f39cfce14f2" providerId="ADAL" clId="{A1D24235-CBEE-4B27-840C-D85447D0D3DD}" dt="2025-06-26T17:24:52.722" v="1818" actId="20577"/>
        <pc:sldMkLst>
          <pc:docMk/>
          <pc:sldMk cId="98528223" sldId="263"/>
        </pc:sldMkLst>
        <pc:spChg chg="mod">
          <ac:chgData name="Vladimir Dimitrov" userId="f8472e96-b36b-4d49-bbdd-7f39cfce14f2" providerId="ADAL" clId="{A1D24235-CBEE-4B27-840C-D85447D0D3DD}" dt="2025-06-26T17:24:52.722" v="1818" actId="20577"/>
          <ac:spMkLst>
            <pc:docMk/>
            <pc:sldMk cId="98528223" sldId="263"/>
            <ac:spMk id="3" creationId="{00000000-0000-0000-0000-000000000000}"/>
          </ac:spMkLst>
        </pc:spChg>
      </pc:sldChg>
      <pc:sldChg chg="modSp mod">
        <pc:chgData name="Vladimir Dimitrov" userId="f8472e96-b36b-4d49-bbdd-7f39cfce14f2" providerId="ADAL" clId="{A1D24235-CBEE-4B27-840C-D85447D0D3DD}" dt="2025-06-26T17:37:57.772" v="2894" actId="20577"/>
        <pc:sldMkLst>
          <pc:docMk/>
          <pc:sldMk cId="1115763361" sldId="264"/>
        </pc:sldMkLst>
        <pc:spChg chg="mod">
          <ac:chgData name="Vladimir Dimitrov" userId="f8472e96-b36b-4d49-bbdd-7f39cfce14f2" providerId="ADAL" clId="{A1D24235-CBEE-4B27-840C-D85447D0D3DD}" dt="2025-06-26T17:37:57.772" v="2894" actId="20577"/>
          <ac:spMkLst>
            <pc:docMk/>
            <pc:sldMk cId="1115763361" sldId="264"/>
            <ac:spMk id="2" creationId="{00000000-0000-0000-0000-000000000000}"/>
          </ac:spMkLst>
        </pc:spChg>
      </pc:sldChg>
      <pc:sldChg chg="modSp mod">
        <pc:chgData name="Vladimir Dimitrov" userId="f8472e96-b36b-4d49-bbdd-7f39cfce14f2" providerId="ADAL" clId="{A1D24235-CBEE-4B27-840C-D85447D0D3DD}" dt="2025-06-26T17:29:43.478" v="2081" actId="20577"/>
        <pc:sldMkLst>
          <pc:docMk/>
          <pc:sldMk cId="340263118" sldId="265"/>
        </pc:sldMkLst>
        <pc:spChg chg="mod">
          <ac:chgData name="Vladimir Dimitrov" userId="f8472e96-b36b-4d49-bbdd-7f39cfce14f2" providerId="ADAL" clId="{A1D24235-CBEE-4B27-840C-D85447D0D3DD}" dt="2025-06-26T17:16:21.989" v="1528" actId="20577"/>
          <ac:spMkLst>
            <pc:docMk/>
            <pc:sldMk cId="340263118" sldId="265"/>
            <ac:spMk id="2" creationId="{00000000-0000-0000-0000-000000000000}"/>
          </ac:spMkLst>
        </pc:spChg>
        <pc:spChg chg="mod">
          <ac:chgData name="Vladimir Dimitrov" userId="f8472e96-b36b-4d49-bbdd-7f39cfce14f2" providerId="ADAL" clId="{A1D24235-CBEE-4B27-840C-D85447D0D3DD}" dt="2025-06-26T17:29:43.478" v="2081" actId="20577"/>
          <ac:spMkLst>
            <pc:docMk/>
            <pc:sldMk cId="340263118" sldId="265"/>
            <ac:spMk id="3" creationId="{00000000-0000-0000-0000-000000000000}"/>
          </ac:spMkLst>
        </pc:spChg>
      </pc:sldChg>
      <pc:sldChg chg="modSp mod">
        <pc:chgData name="Vladimir Dimitrov" userId="f8472e96-b36b-4d49-bbdd-7f39cfce14f2" providerId="ADAL" clId="{A1D24235-CBEE-4B27-840C-D85447D0D3DD}" dt="2025-06-26T17:38:37.360" v="2898" actId="20577"/>
        <pc:sldMkLst>
          <pc:docMk/>
          <pc:sldMk cId="3112572129" sldId="266"/>
        </pc:sldMkLst>
        <pc:spChg chg="mod">
          <ac:chgData name="Vladimir Dimitrov" userId="f8472e96-b36b-4d49-bbdd-7f39cfce14f2" providerId="ADAL" clId="{A1D24235-CBEE-4B27-840C-D85447D0D3DD}" dt="2025-06-26T17:38:37.360" v="2898" actId="20577"/>
          <ac:spMkLst>
            <pc:docMk/>
            <pc:sldMk cId="3112572129" sldId="266"/>
            <ac:spMk id="2" creationId="{00000000-0000-0000-0000-000000000000}"/>
          </ac:spMkLst>
        </pc:spChg>
        <pc:spChg chg="mod">
          <ac:chgData name="Vladimir Dimitrov" userId="f8472e96-b36b-4d49-bbdd-7f39cfce14f2" providerId="ADAL" clId="{A1D24235-CBEE-4B27-840C-D85447D0D3DD}" dt="2025-06-26T17:32:34.928" v="2428" actId="20577"/>
          <ac:spMkLst>
            <pc:docMk/>
            <pc:sldMk cId="3112572129" sldId="266"/>
            <ac:spMk id="3" creationId="{00000000-0000-0000-0000-000000000000}"/>
          </ac:spMkLst>
        </pc:spChg>
      </pc:sldChg>
      <pc:sldChg chg="modSp add mod">
        <pc:chgData name="Vladimir Dimitrov" userId="f8472e96-b36b-4d49-bbdd-7f39cfce14f2" providerId="ADAL" clId="{A1D24235-CBEE-4B27-840C-D85447D0D3DD}" dt="2025-06-26T17:39:11.189" v="2900" actId="113"/>
        <pc:sldMkLst>
          <pc:docMk/>
          <pc:sldMk cId="2029715219" sldId="267"/>
        </pc:sldMkLst>
        <pc:spChg chg="mod">
          <ac:chgData name="Vladimir Dimitrov" userId="f8472e96-b36b-4d49-bbdd-7f39cfce14f2" providerId="ADAL" clId="{A1D24235-CBEE-4B27-840C-D85447D0D3DD}" dt="2025-06-26T17:39:11.189" v="2900" actId="113"/>
          <ac:spMkLst>
            <pc:docMk/>
            <pc:sldMk cId="2029715219" sldId="267"/>
            <ac:spMk id="2" creationId="{00000000-0000-0000-0000-000000000000}"/>
          </ac:spMkLst>
        </pc:spChg>
        <pc:spChg chg="mod">
          <ac:chgData name="Vladimir Dimitrov" userId="f8472e96-b36b-4d49-bbdd-7f39cfce14f2" providerId="ADAL" clId="{A1D24235-CBEE-4B27-840C-D85447D0D3DD}" dt="2025-06-26T17:29:37.147" v="2075" actId="20577"/>
          <ac:spMkLst>
            <pc:docMk/>
            <pc:sldMk cId="2029715219" sldId="267"/>
            <ac:spMk id="3" creationId="{00000000-0000-0000-0000-000000000000}"/>
          </ac:spMkLst>
        </pc:spChg>
      </pc:sldChg>
      <pc:sldChg chg="modSp add mod">
        <pc:chgData name="Vladimir Dimitrov" userId="f8472e96-b36b-4d49-bbdd-7f39cfce14f2" providerId="ADAL" clId="{A1D24235-CBEE-4B27-840C-D85447D0D3DD}" dt="2025-06-26T17:22:38.900" v="1631" actId="20577"/>
        <pc:sldMkLst>
          <pc:docMk/>
          <pc:sldMk cId="4187069829" sldId="268"/>
        </pc:sldMkLst>
        <pc:spChg chg="mod">
          <ac:chgData name="Vladimir Dimitrov" userId="f8472e96-b36b-4d49-bbdd-7f39cfce14f2" providerId="ADAL" clId="{A1D24235-CBEE-4B27-840C-D85447D0D3DD}" dt="2025-06-26T17:22:03.237" v="1620" actId="12"/>
          <ac:spMkLst>
            <pc:docMk/>
            <pc:sldMk cId="4187069829" sldId="268"/>
            <ac:spMk id="2" creationId="{00000000-0000-0000-0000-000000000000}"/>
          </ac:spMkLst>
        </pc:spChg>
        <pc:spChg chg="mod">
          <ac:chgData name="Vladimir Dimitrov" userId="f8472e96-b36b-4d49-bbdd-7f39cfce14f2" providerId="ADAL" clId="{A1D24235-CBEE-4B27-840C-D85447D0D3DD}" dt="2025-06-26T17:22:38.900" v="1631" actId="20577"/>
          <ac:spMkLst>
            <pc:docMk/>
            <pc:sldMk cId="4187069829" sldId="268"/>
            <ac:spMk id="3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99A0D-631E-433C-8D9A-62096BDE4393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F9015-3A23-4614-ADCC-162587A839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3267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25870-6881-437C-8253-115FAB5C6C9A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EB736-B50B-4F9F-9788-167D831473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27058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089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4485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958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26" y="6622963"/>
            <a:ext cx="1743312" cy="115814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ctrTitle"/>
          </p:nvPr>
        </p:nvSpPr>
        <p:spPr bwMode="gray">
          <a:xfrm>
            <a:off x="916800" y="2286000"/>
            <a:ext cx="10363200" cy="1144800"/>
          </a:xfrm>
        </p:spPr>
        <p:txBody>
          <a:bodyPr vert="horz" anchor="ctr">
            <a:noAutofit/>
          </a:bodyPr>
          <a:lstStyle>
            <a:lvl1pPr algn="ctr">
              <a:defRPr sz="2000" b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/>
          </p:nvPr>
        </p:nvSpPr>
        <p:spPr bwMode="gray">
          <a:xfrm>
            <a:off x="1833600" y="3430800"/>
            <a:ext cx="8534400" cy="1753200"/>
          </a:xfrm>
        </p:spPr>
        <p:txBody>
          <a:bodyPr lIns="0" tIns="72000" rIns="0" bIns="72000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82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96508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964800" y="4406400"/>
            <a:ext cx="10363200" cy="1360800"/>
          </a:xfrm>
        </p:spPr>
        <p:txBody>
          <a:bodyPr vert="horz" lIns="360000" rIns="90000" bIns="0" anchor="t">
            <a:noAutofit/>
          </a:bodyPr>
          <a:lstStyle>
            <a:lvl1pPr>
              <a:defRPr sz="4000"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964800" y="2905200"/>
            <a:ext cx="10363200" cy="1501200"/>
          </a:xfrm>
        </p:spPr>
        <p:txBody>
          <a:bodyPr lIns="360000" tIns="360000" rIns="360000" bIns="360000" anchor="b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348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480853"/>
            <a:ext cx="1743312" cy="102547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1625" y="3970428"/>
            <a:ext cx="5184775" cy="1323474"/>
          </a:xfrm>
        </p:spPr>
        <p:txBody>
          <a:bodyPr tIns="0" bIns="0" anchor="b"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pic>
        <p:nvPicPr>
          <p:cNvPr id="7" name="Grafik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01625" y="5293902"/>
            <a:ext cx="5184775" cy="700237"/>
          </a:xfrm>
        </p:spPr>
        <p:txBody>
          <a:bodyPr tIns="0" bIns="0"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0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0562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5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6559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6433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189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8" y="1563625"/>
            <a:ext cx="11483974" cy="4961002"/>
          </a:xfrm>
        </p:spPr>
        <p:txBody>
          <a:bodyPr tIns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300038" y="883567"/>
            <a:ext cx="11483974" cy="540000"/>
          </a:xfrm>
          <a:solidFill>
            <a:schemeClr val="accent1"/>
          </a:solidFill>
        </p:spPr>
        <p:txBody>
          <a:bodyPr lIns="72000" tIns="72000" rIns="72000" bIns="72000" anchor="ctr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299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603417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7" y="835199"/>
            <a:ext cx="11483975" cy="568942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0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49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585258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9" y="835199"/>
            <a:ext cx="5604438" cy="568942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 bwMode="gray">
          <a:xfrm>
            <a:off x="6178812" y="835199"/>
            <a:ext cx="5605200" cy="568942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189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7231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8" y="1375200"/>
            <a:ext cx="5603963" cy="51494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 bwMode="gray">
          <a:xfrm>
            <a:off x="6178812" y="1375200"/>
            <a:ext cx="5605200" cy="51494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/>
          </p:nvPr>
        </p:nvSpPr>
        <p:spPr bwMode="gray">
          <a:xfrm>
            <a:off x="300038" y="835199"/>
            <a:ext cx="5603963" cy="54000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3"/>
          </p:nvPr>
        </p:nvSpPr>
        <p:spPr bwMode="gray">
          <a:xfrm>
            <a:off x="6179113" y="835199"/>
            <a:ext cx="5604899" cy="54000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3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764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slid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2817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7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821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734852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 bwMode="gray">
          <a:xfrm>
            <a:off x="300038" y="835199"/>
            <a:ext cx="4451762" cy="568942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/>
          </p:nvPr>
        </p:nvSpPr>
        <p:spPr bwMode="gray">
          <a:xfrm>
            <a:off x="5039802" y="835199"/>
            <a:ext cx="6744210" cy="568942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486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29678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2390641" y="5502325"/>
            <a:ext cx="7315200" cy="806400"/>
          </a:xfrm>
        </p:spPr>
        <p:txBody>
          <a:bodyPr vert="horz"/>
          <a:lstStyle/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 bwMode="gray">
          <a:xfrm>
            <a:off x="2390641" y="835199"/>
            <a:ext cx="7315200" cy="3960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/>
          </p:nvPr>
        </p:nvSpPr>
        <p:spPr bwMode="gray">
          <a:xfrm>
            <a:off x="2390641" y="4802400"/>
            <a:ext cx="7315200" cy="565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Titelplatzhalter 1"/>
          <p:cNvSpPr txBox="1">
            <a:spLocks/>
          </p:cNvSpPr>
          <p:nvPr/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178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37091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think-cell Folie" r:id="rId16" imgW="353" imgH="353" progId="TCLayout.ActiveDocument.1">
                  <p:embed/>
                </p:oleObj>
              </mc:Choice>
              <mc:Fallback>
                <p:oleObj name="think-cell Folie" r:id="rId16" imgW="353" imgH="353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de-DE" sz="1800" b="1" i="0" baseline="0" dirty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300038" y="837588"/>
            <a:ext cx="11483974" cy="5687038"/>
          </a:xfrm>
          <a:prstGeom prst="rect">
            <a:avLst/>
          </a:prstGeom>
        </p:spPr>
        <p:txBody>
          <a:bodyPr vert="horz" lIns="0" tIns="360000" rIns="0" bIns="36000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26" y="6622963"/>
            <a:ext cx="1743312" cy="115814"/>
          </a:xfrm>
          <a:prstGeom prst="rect">
            <a:avLst/>
          </a:prstGeom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 rot="16200000">
            <a:off x="9022855" y="3614034"/>
            <a:ext cx="5911865" cy="317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6800" rIns="46800">
            <a:spAutoFit/>
          </a:bodyPr>
          <a:lstStyle>
            <a:lvl1pPr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defRPr/>
            </a:pPr>
            <a:r>
              <a:rPr lang="en-US" altLang="de-DE" sz="770" b="0" noProof="0" dirty="0">
                <a:solidFill>
                  <a:schemeClr val="tx2"/>
                </a:solidFill>
              </a:rPr>
              <a:t>© 202</a:t>
            </a:r>
            <a:r>
              <a:rPr lang="hu-HU" altLang="de-DE" sz="770" b="0" noProof="0" dirty="0">
                <a:solidFill>
                  <a:schemeClr val="tx2"/>
                </a:solidFill>
              </a:rPr>
              <a:t>5</a:t>
            </a:r>
            <a:r>
              <a:rPr lang="en-US" altLang="de-DE" sz="770" b="0" noProof="0" dirty="0">
                <a:solidFill>
                  <a:schemeClr val="tx2"/>
                </a:solidFill>
              </a:rPr>
              <a:t>, KOSTAL </a:t>
            </a:r>
            <a:r>
              <a:rPr lang="en-US" altLang="de-DE" sz="770" b="0" noProof="0" dirty="0" err="1">
                <a:solidFill>
                  <a:schemeClr val="tx2"/>
                </a:solidFill>
              </a:rPr>
              <a:t>Automobil</a:t>
            </a:r>
            <a:r>
              <a:rPr lang="en-US" altLang="de-DE" sz="770" b="0" noProof="0" dirty="0">
                <a:solidFill>
                  <a:schemeClr val="tx2"/>
                </a:solidFill>
              </a:rPr>
              <a:t> </a:t>
            </a:r>
            <a:r>
              <a:rPr lang="en-US" altLang="de-DE" sz="770" b="0" noProof="0" dirty="0" err="1">
                <a:solidFill>
                  <a:schemeClr val="tx2"/>
                </a:solidFill>
              </a:rPr>
              <a:t>Elektrik</a:t>
            </a:r>
            <a:r>
              <a:rPr lang="en-US" altLang="de-DE" sz="770" b="0" noProof="0" dirty="0">
                <a:solidFill>
                  <a:schemeClr val="tx2"/>
                </a:solidFill>
              </a:rPr>
              <a:t> GmbH &amp; Co. KG. Contents and presentation are protected world-wide. Any kind of using,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defRPr/>
            </a:pPr>
            <a:r>
              <a:rPr lang="en-US" altLang="de-DE" sz="770" b="0" noProof="0" dirty="0">
                <a:solidFill>
                  <a:schemeClr val="tx2"/>
                </a:solidFill>
              </a:rPr>
              <a:t>copying etc. is prohibited without prior permission. All rights - incl. Industrial property rights - are reserved.</a:t>
            </a:r>
          </a:p>
        </p:txBody>
      </p:sp>
      <p:sp>
        <p:nvSpPr>
          <p:cNvPr id="4" name="Rechteck 3"/>
          <p:cNvSpPr/>
          <p:nvPr/>
        </p:nvSpPr>
        <p:spPr>
          <a:xfrm>
            <a:off x="0" y="783507"/>
            <a:ext cx="12193847" cy="36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600" b="0" noProof="0" dirty="0">
              <a:solidFill>
                <a:schemeClr val="tx1"/>
              </a:solidFill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5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195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Tx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42000" indent="-342000" algn="l" defTabSz="6858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Wingdings" panose="05000000000000000000" pitchFamily="2" charset="2"/>
        <a:buChar char="§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741600" indent="-3420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144800" indent="-2304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1656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189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noProof="0" dirty="0"/>
              <a:t>Задание за проектиране на автомобилна електроника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Електрически машини и задвижване </a:t>
            </a:r>
            <a:r>
              <a:rPr lang="en-US" dirty="0"/>
              <a:t>(</a:t>
            </a:r>
            <a:r>
              <a:rPr lang="bg-BG" dirty="0"/>
              <a:t>семестър </a:t>
            </a:r>
            <a:r>
              <a:rPr lang="en-US" dirty="0"/>
              <a:t>VII)</a:t>
            </a:r>
          </a:p>
          <a:p>
            <a:r>
              <a:rPr lang="bg-BG"/>
              <a:t>Стандарти </a:t>
            </a:r>
            <a:r>
              <a:rPr lang="bg-BG" dirty="0"/>
              <a:t>при проектирането и производството на автомобилна електроника</a:t>
            </a:r>
            <a:r>
              <a:rPr lang="en-US" dirty="0"/>
              <a:t> (</a:t>
            </a:r>
            <a:r>
              <a:rPr lang="bg-BG" dirty="0"/>
              <a:t>семестър </a:t>
            </a:r>
            <a:r>
              <a:rPr lang="en-US" dirty="0"/>
              <a:t>VIII)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0198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bg-BG" b="0" dirty="0"/>
              <a:t>Основни цел:</a:t>
            </a:r>
          </a:p>
          <a:p>
            <a:r>
              <a:rPr lang="bg-BG" b="0" dirty="0"/>
              <a:t>Управление на движението </a:t>
            </a:r>
            <a:r>
              <a:rPr lang="bg-BG" b="0" dirty="0" smtClean="0"/>
              <a:t>на автомобилно огледало </a:t>
            </a:r>
            <a:endParaRPr lang="bg-BG" b="0" dirty="0"/>
          </a:p>
          <a:p>
            <a:pPr marL="627750" lvl="1" indent="-285750">
              <a:buFont typeface="Arial" panose="020B0604020202020204" pitchFamily="34" charset="0"/>
              <a:buChar char="•"/>
            </a:pPr>
            <a:r>
              <a:rPr lang="bg-BG" sz="1400" b="0" dirty="0"/>
              <a:t>Задаване на точна позиция при стартиране</a:t>
            </a:r>
          </a:p>
          <a:p>
            <a:pPr marL="627750" lvl="1" indent="-285750">
              <a:buFont typeface="Arial" panose="020B0604020202020204" pitchFamily="34" charset="0"/>
              <a:buChar char="•"/>
            </a:pPr>
            <a:r>
              <a:rPr lang="bg-BG" sz="1400" b="0" dirty="0"/>
              <a:t>Диагностика при повреда на системата</a:t>
            </a:r>
          </a:p>
          <a:p>
            <a:pPr marL="342900" indent="-342900">
              <a:buFont typeface="+mj-lt"/>
              <a:buAutoNum type="arabicPeriod"/>
            </a:pPr>
            <a:endParaRPr lang="bg-BG" b="0" dirty="0"/>
          </a:p>
          <a:p>
            <a:r>
              <a:rPr lang="bg-BG" b="0" dirty="0"/>
              <a:t>Допълнителни цели:</a:t>
            </a:r>
          </a:p>
          <a:p>
            <a:pPr marL="342900" indent="-342900">
              <a:buFont typeface="+mj-lt"/>
              <a:buAutoNum type="arabicPeriod"/>
            </a:pPr>
            <a:r>
              <a:rPr lang="bg-BG" b="0" dirty="0"/>
              <a:t>Управление на </a:t>
            </a:r>
            <a:r>
              <a:rPr lang="bg-BG" b="0" dirty="0" err="1"/>
              <a:t>подгрев</a:t>
            </a:r>
            <a:r>
              <a:rPr lang="bg-BG" b="0" dirty="0"/>
              <a:t> на </a:t>
            </a:r>
            <a:r>
              <a:rPr lang="bg-BG" b="0" dirty="0" smtClean="0"/>
              <a:t>автомобилно огледалото</a:t>
            </a:r>
            <a:endParaRPr lang="bg-BG" b="0" dirty="0"/>
          </a:p>
          <a:p>
            <a:pPr marL="627750" lvl="1" indent="-285750"/>
            <a:r>
              <a:rPr lang="bg-BG" sz="1600" b="0" dirty="0"/>
              <a:t>Управление на мощността на </a:t>
            </a:r>
            <a:r>
              <a:rPr lang="bg-BG" sz="1600" b="0" dirty="0" err="1"/>
              <a:t>подгрева</a:t>
            </a:r>
            <a:r>
              <a:rPr lang="bg-BG" sz="1600" b="0" dirty="0"/>
              <a:t> / температура?</a:t>
            </a:r>
          </a:p>
          <a:p>
            <a:pPr marL="342900" indent="-342900">
              <a:buFont typeface="+mj-lt"/>
              <a:buAutoNum type="arabicPeriod"/>
            </a:pPr>
            <a:r>
              <a:rPr lang="bg-BG" b="0" dirty="0"/>
              <a:t>Управление на мигач</a:t>
            </a:r>
          </a:p>
          <a:p>
            <a:pPr marL="684900" lvl="1" indent="-342900"/>
            <a:r>
              <a:rPr lang="bg-BG" b="0" dirty="0"/>
              <a:t>Управление на интензитета</a:t>
            </a:r>
          </a:p>
          <a:p>
            <a:pPr marL="684900" lvl="1" indent="-342900"/>
            <a:r>
              <a:rPr lang="bg-BG" b="0" dirty="0"/>
              <a:t>Управление на продължителността на интервала за осветеност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1800" b="0" dirty="0"/>
              <a:t>Тема и цел на разработката</a:t>
            </a:r>
            <a:r>
              <a:rPr lang="en-US" sz="1800" b="0" dirty="0"/>
              <a:t>: </a:t>
            </a:r>
            <a:r>
              <a:rPr lang="bg-BG" sz="1800" b="0" dirty="0"/>
              <a:t>Управление на </a:t>
            </a:r>
            <a:r>
              <a:rPr lang="bg-BG" b="0" dirty="0"/>
              <a:t>автомобилно </a:t>
            </a:r>
            <a:r>
              <a:rPr lang="bg-BG" sz="1800" b="0" dirty="0" smtClean="0"/>
              <a:t>огледало </a:t>
            </a:r>
            <a:endParaRPr lang="bg-BG" sz="1800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900" noProof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263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0037" y="835199"/>
            <a:ext cx="11483975" cy="5689426"/>
          </a:xfrm>
        </p:spPr>
        <p:txBody>
          <a:bodyPr/>
          <a:lstStyle/>
          <a:p>
            <a:r>
              <a:rPr lang="bg-BG" sz="2400" b="0" dirty="0"/>
              <a:t>Задачи</a:t>
            </a:r>
            <a:r>
              <a:rPr lang="bg-BG" sz="2000" b="0" dirty="0"/>
              <a:t>: </a:t>
            </a:r>
            <a:endParaRPr lang="en-US" sz="2000" b="0" dirty="0"/>
          </a:p>
          <a:p>
            <a:r>
              <a:rPr lang="bg-BG" sz="2000" b="0" dirty="0"/>
              <a:t>ЕТАП </a:t>
            </a:r>
            <a:r>
              <a:rPr lang="en-US" sz="2000" b="0" dirty="0"/>
              <a:t>I </a:t>
            </a:r>
            <a:r>
              <a:rPr lang="bg-BG" sz="2000" b="0" dirty="0"/>
              <a:t>(Семестър </a:t>
            </a:r>
            <a:r>
              <a:rPr lang="en-US" sz="2000" b="0" dirty="0"/>
              <a:t>VII, </a:t>
            </a:r>
            <a:r>
              <a:rPr lang="bg-BG" sz="2000" b="0" dirty="0"/>
              <a:t>дисциплина </a:t>
            </a:r>
            <a:r>
              <a:rPr lang="bg-BG" sz="2000" dirty="0"/>
              <a:t>ЕМЗ</a:t>
            </a:r>
            <a:r>
              <a:rPr lang="bg-BG" sz="2000" b="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800" b="0" dirty="0"/>
              <a:t>Организация на проекта и разпределяне на задачите в колектива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800" b="0" dirty="0"/>
              <a:t>Конструкция на хардуер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sz="1800" b="0" dirty="0"/>
              <a:t>Създаване на </a:t>
            </a:r>
            <a:r>
              <a:rPr lang="bg-BG" sz="1800" b="0" dirty="0" err="1"/>
              <a:t>схемно</a:t>
            </a:r>
            <a:r>
              <a:rPr lang="bg-BG" sz="1800" b="0" dirty="0"/>
              <a:t> решение за управление на огледалото;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sz="1800" b="0" dirty="0"/>
              <a:t>Създаване на </a:t>
            </a:r>
            <a:r>
              <a:rPr lang="bg-BG" sz="1800" b="0" dirty="0" err="1"/>
              <a:t>схемно</a:t>
            </a:r>
            <a:r>
              <a:rPr lang="bg-BG" sz="1800" b="0" dirty="0"/>
              <a:t> решение за обратни връзки от огледалото (позиция, ток);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800" b="0" dirty="0"/>
              <a:t>Създаване на софтуерна архитектура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sz="1800" b="0" dirty="0"/>
              <a:t>Конфигуриране на използвания микроконтролер </a:t>
            </a:r>
            <a:r>
              <a:rPr lang="en-US" sz="1800" b="0" dirty="0"/>
              <a:t>(ST</a:t>
            </a:r>
            <a:r>
              <a:rPr lang="bg-BG" sz="1800" b="0" dirty="0"/>
              <a:t>, използвайки </a:t>
            </a:r>
            <a:r>
              <a:rPr lang="en-US" sz="1800" b="0" dirty="0"/>
              <a:t>HAL </a:t>
            </a:r>
            <a:r>
              <a:rPr lang="bg-BG" sz="1800" b="0" dirty="0"/>
              <a:t>библиотеки)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sz="1800" b="0" dirty="0"/>
              <a:t>Създаване на алгоритъм за управление на огледалото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sz="1800" b="0" dirty="0"/>
              <a:t>Създаване на диагностика на системата и възможност за връзка с </a:t>
            </a:r>
            <a:r>
              <a:rPr lang="en-US" sz="1800" b="0" dirty="0"/>
              <a:t>PC</a:t>
            </a:r>
            <a:endParaRPr lang="bg-BG" sz="1800" b="0" dirty="0"/>
          </a:p>
          <a:p>
            <a:pPr marL="513450" lvl="1" indent="-171450">
              <a:buFont typeface="Arial" panose="020B0604020202020204" pitchFamily="34" charset="0"/>
              <a:buChar char="•"/>
            </a:pPr>
            <a:endParaRPr lang="bg-BG" sz="1800" b="0" dirty="0"/>
          </a:p>
          <a:p>
            <a:r>
              <a:rPr lang="bg-BG" sz="1800" b="0" dirty="0"/>
              <a:t>ЕТАП </a:t>
            </a:r>
            <a:r>
              <a:rPr lang="en-US" sz="1800" b="0" dirty="0"/>
              <a:t>II </a:t>
            </a:r>
            <a:r>
              <a:rPr lang="bg-BG" sz="1800" b="0" dirty="0"/>
              <a:t>(Семестър </a:t>
            </a:r>
            <a:r>
              <a:rPr lang="en-US" sz="1800" b="0" dirty="0" smtClean="0"/>
              <a:t>VIII</a:t>
            </a:r>
            <a:r>
              <a:rPr lang="en-US" sz="1800" b="0" dirty="0"/>
              <a:t>, </a:t>
            </a:r>
            <a:r>
              <a:rPr lang="bg-BG" sz="1800" b="0" dirty="0"/>
              <a:t>дисциплина </a:t>
            </a:r>
            <a:r>
              <a:rPr lang="bg-BG" sz="1800" dirty="0"/>
              <a:t>СППАЕ</a:t>
            </a:r>
            <a:r>
              <a:rPr lang="bg-BG" sz="1800" b="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800" b="0" dirty="0"/>
              <a:t>Създаване на тестове на разработения прототип, отговарящи на основните автомобилни стандарти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800" b="0" dirty="0"/>
              <a:t>Създаване на документация на проекта , отговарящи на основните автомобилни стандарти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0" dirty="0"/>
              <a:t>Задачи при изпълнение на проекта</a:t>
            </a:r>
            <a:endParaRPr lang="bg-BG" sz="1800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900" noProof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9715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00037" y="835199"/>
            <a:ext cx="11373407" cy="568942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dirty="0" err="1"/>
              <a:t>Текущият</a:t>
            </a:r>
            <a:r>
              <a:rPr lang="ru-RU" sz="1400" dirty="0"/>
              <a:t> проект </a:t>
            </a:r>
            <a:r>
              <a:rPr lang="ru-RU" sz="1400" dirty="0" err="1"/>
              <a:t>има</a:t>
            </a:r>
            <a:r>
              <a:rPr lang="ru-RU" sz="1400" dirty="0"/>
              <a:t> за цел: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ru-RU" sz="1400" b="0" dirty="0" err="1"/>
              <a:t>Утвърждаване</a:t>
            </a:r>
            <a:r>
              <a:rPr lang="ru-RU" sz="1400" b="0" dirty="0"/>
              <a:t> и развитие на вече </a:t>
            </a:r>
            <a:r>
              <a:rPr lang="ru-RU" sz="1400" b="0" dirty="0" err="1"/>
              <a:t>придобити</a:t>
            </a:r>
            <a:r>
              <a:rPr lang="ru-RU" sz="1400" b="0" dirty="0"/>
              <a:t> </a:t>
            </a:r>
            <a:r>
              <a:rPr lang="ru-RU" sz="1400" b="0" dirty="0" err="1"/>
              <a:t>теоретични</a:t>
            </a:r>
            <a:r>
              <a:rPr lang="ru-RU" sz="1400" b="0" dirty="0"/>
              <a:t> знания чрез практически упражнения </a:t>
            </a:r>
            <a:r>
              <a:rPr lang="ru-RU" sz="1400" b="0" dirty="0" err="1"/>
              <a:t>върху</a:t>
            </a:r>
            <a:r>
              <a:rPr lang="ru-RU" sz="1400" b="0" dirty="0"/>
              <a:t> реален </a:t>
            </a:r>
            <a:r>
              <a:rPr lang="ru-RU" sz="1400" b="0" dirty="0" err="1"/>
              <a:t>електронен</a:t>
            </a:r>
            <a:r>
              <a:rPr lang="ru-RU" sz="1400" b="0" dirty="0"/>
              <a:t> </a:t>
            </a:r>
            <a:r>
              <a:rPr lang="ru-RU" sz="1400" b="0" dirty="0" err="1"/>
              <a:t>модул</a:t>
            </a:r>
            <a:endParaRPr lang="ru-RU" sz="1400" b="0" dirty="0"/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ru-RU" sz="1400" b="0" dirty="0"/>
              <a:t>Развитие на </a:t>
            </a:r>
            <a:r>
              <a:rPr lang="ru-RU" sz="1400" b="0" dirty="0" err="1"/>
              <a:t>уменията</a:t>
            </a:r>
            <a:r>
              <a:rPr lang="ru-RU" sz="1400" b="0" dirty="0"/>
              <a:t> за работа в </a:t>
            </a:r>
            <a:r>
              <a:rPr lang="ru-RU" sz="1400" b="0" dirty="0" err="1"/>
              <a:t>екип</a:t>
            </a:r>
            <a:endParaRPr lang="ru-RU" sz="1400" b="0" dirty="0"/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ru-RU" sz="1400" b="0" dirty="0"/>
              <a:t>Развитие на умения за </a:t>
            </a:r>
            <a:r>
              <a:rPr lang="ru-RU" sz="1400" b="0" dirty="0" err="1"/>
              <a:t>изготвяне</a:t>
            </a:r>
            <a:r>
              <a:rPr lang="ru-RU" sz="1400" b="0" dirty="0"/>
              <a:t> на </a:t>
            </a:r>
            <a:r>
              <a:rPr lang="ru-RU" sz="1400" b="0" dirty="0" err="1"/>
              <a:t>техническа</a:t>
            </a:r>
            <a:r>
              <a:rPr lang="ru-RU" sz="1400" b="0" dirty="0"/>
              <a:t> документация при </a:t>
            </a:r>
            <a:r>
              <a:rPr lang="ru-RU" sz="1400" b="0" dirty="0" err="1"/>
              <a:t>проектирането</a:t>
            </a:r>
            <a:r>
              <a:rPr lang="ru-RU" sz="1400" b="0" dirty="0"/>
              <a:t> на </a:t>
            </a:r>
            <a:r>
              <a:rPr lang="ru-RU" sz="1400" b="0" dirty="0" err="1"/>
              <a:t>автомобилна</a:t>
            </a:r>
            <a:r>
              <a:rPr lang="ru-RU" sz="1400" b="0" dirty="0"/>
              <a:t> </a:t>
            </a:r>
            <a:r>
              <a:rPr lang="ru-RU" sz="1400" b="0" dirty="0" err="1"/>
              <a:t>електроника</a:t>
            </a:r>
            <a:endParaRPr lang="ru-RU" sz="1400" b="0" dirty="0"/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ru-RU" sz="1400" b="0" dirty="0" err="1"/>
              <a:t>Запознаване</a:t>
            </a:r>
            <a:r>
              <a:rPr lang="ru-RU" sz="1400" b="0" dirty="0"/>
              <a:t> с </a:t>
            </a:r>
            <a:r>
              <a:rPr lang="ru-RU" sz="1400" b="0" dirty="0" err="1"/>
              <a:t>основните</a:t>
            </a:r>
            <a:r>
              <a:rPr lang="ru-RU" sz="1400" b="0" dirty="0"/>
              <a:t> </a:t>
            </a:r>
            <a:r>
              <a:rPr lang="ru-RU" sz="1400" b="0" dirty="0" err="1"/>
              <a:t>стандарти</a:t>
            </a:r>
            <a:r>
              <a:rPr lang="ru-RU" sz="1400" b="0" dirty="0"/>
              <a:t> при </a:t>
            </a:r>
            <a:r>
              <a:rPr lang="ru-RU" sz="1400" b="0" dirty="0" err="1"/>
              <a:t>проектирането</a:t>
            </a:r>
            <a:r>
              <a:rPr lang="ru-RU" sz="1400" b="0" dirty="0"/>
              <a:t> на </a:t>
            </a:r>
            <a:r>
              <a:rPr lang="ru-RU" sz="1400" b="0" dirty="0" err="1"/>
              <a:t>автомобилна</a:t>
            </a:r>
            <a:r>
              <a:rPr lang="ru-RU" sz="1400" b="0" dirty="0"/>
              <a:t> </a:t>
            </a:r>
            <a:r>
              <a:rPr lang="ru-RU" sz="1400" b="0" dirty="0" err="1"/>
              <a:t>електроника</a:t>
            </a:r>
            <a:endParaRPr lang="bg-BG" sz="14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dirty="0" err="1"/>
              <a:t>Избраната</a:t>
            </a:r>
            <a:r>
              <a:rPr lang="ru-RU" sz="1400" dirty="0"/>
              <a:t> </a:t>
            </a:r>
            <a:r>
              <a:rPr lang="ru-RU" sz="1400" dirty="0" err="1"/>
              <a:t>развойна</a:t>
            </a:r>
            <a:r>
              <a:rPr lang="ru-RU" sz="1400" dirty="0"/>
              <a:t> среда </a:t>
            </a:r>
            <a:r>
              <a:rPr lang="ru-RU" sz="1400" dirty="0" err="1"/>
              <a:t>има</a:t>
            </a:r>
            <a:r>
              <a:rPr lang="ru-RU" sz="1400" dirty="0"/>
              <a:t> за цел да </a:t>
            </a:r>
            <a:r>
              <a:rPr lang="ru-RU" sz="1400" dirty="0" err="1"/>
              <a:t>осигури</a:t>
            </a:r>
            <a:r>
              <a:rPr lang="ru-RU" sz="1400" b="0" dirty="0"/>
              <a:t>: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ru-RU" sz="1400" b="0" dirty="0" err="1"/>
              <a:t>Достъпна</a:t>
            </a:r>
            <a:r>
              <a:rPr lang="ru-RU" sz="1400" b="0" dirty="0"/>
              <a:t>/Свободна </a:t>
            </a:r>
            <a:r>
              <a:rPr lang="ru-RU" sz="1400" b="0" dirty="0" err="1"/>
              <a:t>графична</a:t>
            </a:r>
            <a:r>
              <a:rPr lang="ru-RU" sz="1400" b="0" dirty="0"/>
              <a:t> среда за разработка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sz="1400" b="0" dirty="0"/>
              <a:t>Безплатен компилатор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sz="1400" b="0" dirty="0"/>
              <a:t>Интегриран </a:t>
            </a:r>
            <a:r>
              <a:rPr lang="en-ZW" sz="1400" b="0" dirty="0"/>
              <a:t>debug </a:t>
            </a:r>
            <a:r>
              <a:rPr lang="bg-BG" sz="1400" b="0" dirty="0"/>
              <a:t>интерфейс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ru-RU" sz="1400" b="0" dirty="0" err="1"/>
              <a:t>Общодостъпна</a:t>
            </a:r>
            <a:r>
              <a:rPr lang="ru-RU" sz="1400" b="0" dirty="0"/>
              <a:t> информация (</a:t>
            </a:r>
            <a:r>
              <a:rPr lang="ru-RU" sz="1400" b="0" dirty="0" err="1"/>
              <a:t>примери</a:t>
            </a:r>
            <a:r>
              <a:rPr lang="ru-RU" sz="1400" b="0" dirty="0"/>
              <a:t> и микро </a:t>
            </a:r>
            <a:r>
              <a:rPr lang="ru-RU" sz="1400" b="0" dirty="0" err="1"/>
              <a:t>програми</a:t>
            </a:r>
            <a:r>
              <a:rPr lang="ru-RU" sz="1400" b="0" dirty="0"/>
              <a:t>), </a:t>
            </a:r>
            <a:r>
              <a:rPr lang="ru-RU" sz="1400" b="0" dirty="0" err="1"/>
              <a:t>които</a:t>
            </a:r>
            <a:r>
              <a:rPr lang="ru-RU" sz="1400" b="0" dirty="0"/>
              <a:t> </a:t>
            </a:r>
            <a:r>
              <a:rPr lang="ru-RU" sz="1400" b="0" dirty="0" err="1"/>
              <a:t>могат</a:t>
            </a:r>
            <a:r>
              <a:rPr lang="ru-RU" sz="1400" b="0" dirty="0"/>
              <a:t> да служат </a:t>
            </a:r>
            <a:r>
              <a:rPr lang="ru-RU" sz="1400" b="0" dirty="0" err="1"/>
              <a:t>като</a:t>
            </a:r>
            <a:r>
              <a:rPr lang="ru-RU" sz="1400" b="0" dirty="0"/>
              <a:t> основа при </a:t>
            </a:r>
            <a:r>
              <a:rPr lang="ru-RU" sz="1400" b="0" dirty="0" err="1"/>
              <a:t>изграждане</a:t>
            </a:r>
            <a:r>
              <a:rPr lang="ru-RU" sz="1400" b="0" dirty="0"/>
              <a:t> на комплексен проект</a:t>
            </a:r>
            <a:endParaRPr lang="bg-BG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400" dirty="0"/>
              <a:t>Запознанството с реален </a:t>
            </a:r>
            <a:r>
              <a:rPr lang="bg-BG" sz="1400" dirty="0" err="1"/>
              <a:t>актуатор</a:t>
            </a:r>
            <a:r>
              <a:rPr lang="bg-BG" sz="1400" dirty="0"/>
              <a:t> - огледало</a:t>
            </a:r>
            <a:endParaRPr lang="ru-RU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400" dirty="0"/>
              <a:t>Работа със среда за контрол на версиите - </a:t>
            </a:r>
            <a:r>
              <a:rPr lang="en-US" sz="1400" dirty="0"/>
              <a:t>GitHub</a:t>
            </a:r>
            <a:endParaRPr lang="bg-BG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Резултати от изпълнението на целите</a:t>
            </a:r>
            <a:endParaRPr lang="en-US" noProof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sz="900" noProof="0">
                <a:solidFill>
                  <a:schemeClr val="tx2"/>
                </a:solidFill>
              </a:rPr>
              <a:t>Occasion / Author / Date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27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b="0" dirty="0"/>
              <a:t>За </a:t>
            </a:r>
            <a:r>
              <a:rPr lang="ru-RU" sz="1400" b="0" dirty="0" err="1"/>
              <a:t>реализиране</a:t>
            </a:r>
            <a:r>
              <a:rPr lang="ru-RU" sz="1400" b="0" dirty="0"/>
              <a:t> на проекта </a:t>
            </a:r>
            <a:r>
              <a:rPr lang="ru-RU" sz="1400" b="0" dirty="0" err="1"/>
              <a:t>студентите</a:t>
            </a:r>
            <a:r>
              <a:rPr lang="ru-RU" sz="1400" b="0" dirty="0"/>
              <a:t> </a:t>
            </a:r>
            <a:r>
              <a:rPr lang="ru-RU" sz="1400" b="0" dirty="0" err="1"/>
              <a:t>следва</a:t>
            </a:r>
            <a:r>
              <a:rPr lang="ru-RU" sz="1400" b="0" dirty="0"/>
              <a:t> да се разделят на </a:t>
            </a:r>
            <a:r>
              <a:rPr lang="ru-RU" sz="1400" b="0" dirty="0" err="1"/>
              <a:t>групи</a:t>
            </a:r>
            <a:r>
              <a:rPr lang="ru-RU" sz="1400" b="0" dirty="0"/>
              <a:t> от по 3-</a:t>
            </a:r>
            <a:r>
              <a:rPr lang="en-US" sz="1400" b="0" dirty="0"/>
              <a:t> </a:t>
            </a:r>
            <a:r>
              <a:rPr lang="ru-RU" sz="1400" b="0" dirty="0"/>
              <a:t>4 </a:t>
            </a:r>
            <a:r>
              <a:rPr lang="ru-RU" sz="1400" b="0" dirty="0" err="1"/>
              <a:t>човека</a:t>
            </a:r>
            <a:r>
              <a:rPr lang="ru-RU" sz="1400" b="0" dirty="0"/>
              <a:t>, </a:t>
            </a:r>
            <a:r>
              <a:rPr lang="ru-RU" sz="1400" b="0" dirty="0" err="1"/>
              <a:t>като</a:t>
            </a:r>
            <a:r>
              <a:rPr lang="ru-RU" sz="1400" b="0" dirty="0"/>
              <a:t> проекта </a:t>
            </a:r>
            <a:r>
              <a:rPr lang="ru-RU" sz="1400" b="0" dirty="0" err="1"/>
              <a:t>трябва</a:t>
            </a:r>
            <a:r>
              <a:rPr lang="ru-RU" sz="1400" b="0" dirty="0"/>
              <a:t> да се раздели архитектурно на </a:t>
            </a:r>
            <a:r>
              <a:rPr lang="ru-RU" sz="1400" b="0" dirty="0" err="1"/>
              <a:t>индивидуални</a:t>
            </a:r>
            <a:r>
              <a:rPr lang="en-US" sz="1400" b="0" dirty="0"/>
              <a:t> </a:t>
            </a:r>
            <a:r>
              <a:rPr lang="ru-RU" sz="1400" b="0" dirty="0"/>
              <a:t>модули за </a:t>
            </a:r>
            <a:r>
              <a:rPr lang="ru-RU" sz="1400" b="0" dirty="0" err="1"/>
              <a:t>всеки</a:t>
            </a:r>
            <a:r>
              <a:rPr lang="ru-RU" sz="1400" b="0" dirty="0"/>
              <a:t> член от </a:t>
            </a:r>
            <a:r>
              <a:rPr lang="ru-RU" sz="1400" b="0" dirty="0" err="1"/>
              <a:t>екипа</a:t>
            </a:r>
            <a:r>
              <a:rPr lang="ru-RU" sz="1400" b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b="0" dirty="0" err="1"/>
              <a:t>Всеки</a:t>
            </a:r>
            <a:r>
              <a:rPr lang="ru-RU" sz="1400" b="0" dirty="0"/>
              <a:t> </a:t>
            </a:r>
            <a:r>
              <a:rPr lang="ru-RU" sz="1400" b="0" dirty="0" err="1"/>
              <a:t>екип</a:t>
            </a:r>
            <a:r>
              <a:rPr lang="ru-RU" sz="1400" b="0" dirty="0"/>
              <a:t> </a:t>
            </a:r>
            <a:r>
              <a:rPr lang="ru-RU" sz="1400" b="0" dirty="0" err="1"/>
              <a:t>трябва</a:t>
            </a:r>
            <a:r>
              <a:rPr lang="ru-RU" sz="1400" b="0" dirty="0"/>
              <a:t> да </a:t>
            </a:r>
            <a:r>
              <a:rPr lang="ru-RU" sz="1400" b="0" dirty="0" err="1"/>
              <a:t>номинира</a:t>
            </a:r>
            <a:r>
              <a:rPr lang="ru-RU" sz="1400" b="0" dirty="0"/>
              <a:t>: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ru-RU" sz="1400" dirty="0" err="1"/>
              <a:t>Ръководител</a:t>
            </a:r>
            <a:r>
              <a:rPr lang="ru-RU" sz="1400" b="0" dirty="0"/>
              <a:t> – отговорен за </a:t>
            </a:r>
            <a:r>
              <a:rPr lang="ru-RU" sz="1400" b="0" dirty="0" err="1"/>
              <a:t>планирането</a:t>
            </a:r>
            <a:r>
              <a:rPr lang="ru-RU" sz="1400" b="0" dirty="0"/>
              <a:t> на проекта и </a:t>
            </a:r>
            <a:r>
              <a:rPr lang="ru-RU" sz="1400" b="0" dirty="0" err="1"/>
              <a:t>архитектурата</a:t>
            </a:r>
            <a:r>
              <a:rPr lang="ru-RU" sz="1400" b="0" dirty="0"/>
              <a:t> 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sz="1400" dirty="0"/>
              <a:t>Хардуерен проектант </a:t>
            </a:r>
            <a:r>
              <a:rPr lang="bg-BG" sz="1400" b="0" dirty="0"/>
              <a:t>– отговорен за хардуера и за връзката между софтуера и хардуера и документацията за хардуера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sz="1400" dirty="0"/>
              <a:t>Софтуер разработчик </a:t>
            </a:r>
            <a:r>
              <a:rPr lang="bg-BG" sz="1400" b="0" dirty="0"/>
              <a:t>– отговорен за софтуера, имплементацията на кода ТБД.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ru-RU" sz="1400" dirty="0"/>
              <a:t>Интегратор</a:t>
            </a:r>
            <a:r>
              <a:rPr lang="ru-RU" sz="1400" b="0" dirty="0"/>
              <a:t> – отговорен да </a:t>
            </a:r>
            <a:r>
              <a:rPr lang="ru-RU" sz="1400" b="0" dirty="0" err="1"/>
              <a:t>извършва</a:t>
            </a:r>
            <a:r>
              <a:rPr lang="ru-RU" sz="1400" b="0" dirty="0"/>
              <a:t> </a:t>
            </a:r>
            <a:r>
              <a:rPr lang="ru-RU" sz="1400" b="0" dirty="0" err="1"/>
              <a:t>интегриране</a:t>
            </a:r>
            <a:r>
              <a:rPr lang="ru-RU" sz="1400" b="0" dirty="0"/>
              <a:t> на </a:t>
            </a:r>
            <a:r>
              <a:rPr lang="ru-RU" sz="1400" b="0" dirty="0" err="1"/>
              <a:t>отделните</a:t>
            </a:r>
            <a:r>
              <a:rPr lang="ru-RU" sz="1400" b="0" dirty="0"/>
              <a:t> модули и </a:t>
            </a:r>
            <a:r>
              <a:rPr lang="ru-RU" sz="1400" b="0" dirty="0" err="1"/>
              <a:t>цялостен</a:t>
            </a:r>
            <a:r>
              <a:rPr lang="ru-RU" sz="1400" b="0" dirty="0"/>
              <a:t> тест за</a:t>
            </a:r>
            <a:r>
              <a:rPr lang="en-US" sz="1400" b="0" dirty="0"/>
              <a:t> </a:t>
            </a:r>
            <a:r>
              <a:rPr lang="bg-BG" sz="1400" b="0" dirty="0"/>
              <a:t>съвместимост спрямо заданието</a:t>
            </a:r>
            <a:r>
              <a:rPr lang="en-US" sz="1400" b="0" dirty="0"/>
              <a:t>, </a:t>
            </a:r>
            <a:r>
              <a:rPr lang="bg-BG" sz="1400" b="0" dirty="0"/>
              <a:t>отговорен за поддържане на </a:t>
            </a:r>
            <a:r>
              <a:rPr lang="en-US" sz="1400" b="0" dirty="0"/>
              <a:t>CI/CD </a:t>
            </a:r>
            <a:r>
              <a:rPr lang="bg-BG" sz="1400" b="0" dirty="0"/>
              <a:t>среда.</a:t>
            </a:r>
          </a:p>
          <a:p>
            <a:pPr lvl="1" indent="0">
              <a:buNone/>
            </a:pPr>
            <a:endParaRPr lang="bg-BG" sz="1100" b="0" dirty="0"/>
          </a:p>
          <a:p>
            <a:pPr lvl="1" indent="0">
              <a:buNone/>
            </a:pPr>
            <a:endParaRPr lang="bg-BG" sz="2400" b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Екип за изпълнение на заданието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900" noProof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2572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ru-RU" dirty="0"/>
              <a:t>Управление на </a:t>
            </a:r>
            <a:r>
              <a:rPr lang="ru-RU" dirty="0" err="1"/>
              <a:t>огледало</a:t>
            </a:r>
            <a:r>
              <a:rPr lang="ru-RU" dirty="0"/>
              <a:t> </a:t>
            </a:r>
            <a:r>
              <a:rPr lang="ru-RU" dirty="0" err="1"/>
              <a:t>със</a:t>
            </a:r>
            <a:r>
              <a:rPr lang="ru-RU" dirty="0"/>
              <a:t> </a:t>
            </a:r>
            <a:r>
              <a:rPr lang="ru-RU" dirty="0" err="1"/>
              <a:t>следене</a:t>
            </a:r>
            <a:r>
              <a:rPr lang="ru-RU" dirty="0"/>
              <a:t> на </a:t>
            </a:r>
            <a:r>
              <a:rPr lang="ru-RU" dirty="0" err="1"/>
              <a:t>позицията</a:t>
            </a:r>
            <a:r>
              <a:rPr lang="ru-RU" dirty="0"/>
              <a:t> </a:t>
            </a:r>
            <a:r>
              <a:rPr lang="ru-RU" dirty="0" err="1"/>
              <a:t>му</a:t>
            </a:r>
            <a:r>
              <a:rPr lang="ru-RU" dirty="0"/>
              <a:t>, </a:t>
            </a:r>
            <a:r>
              <a:rPr lang="ru-RU" dirty="0" err="1"/>
              <a:t>репортуване</a:t>
            </a:r>
            <a:r>
              <a:rPr lang="ru-RU" dirty="0"/>
              <a:t> на </a:t>
            </a:r>
            <a:r>
              <a:rPr lang="ru-RU" dirty="0" err="1"/>
              <a:t>позицията</a:t>
            </a:r>
            <a:r>
              <a:rPr lang="ru-RU" dirty="0"/>
              <a:t>, </a:t>
            </a:r>
            <a:r>
              <a:rPr lang="ru-RU" dirty="0" err="1"/>
              <a:t>задаване</a:t>
            </a:r>
            <a:r>
              <a:rPr lang="ru-RU" dirty="0"/>
              <a:t> на </a:t>
            </a:r>
            <a:r>
              <a:rPr lang="ru-RU" dirty="0" err="1"/>
              <a:t>позицията</a:t>
            </a:r>
            <a:r>
              <a:rPr lang="ru-RU" dirty="0"/>
              <a:t> и </a:t>
            </a:r>
            <a:r>
              <a:rPr lang="ru-RU" dirty="0" err="1"/>
              <a:t>четене</a:t>
            </a:r>
            <a:r>
              <a:rPr lang="ru-RU" dirty="0"/>
              <a:t> на </a:t>
            </a:r>
            <a:r>
              <a:rPr lang="ru-RU" dirty="0" err="1"/>
              <a:t>съответната</a:t>
            </a:r>
            <a:r>
              <a:rPr lang="ru-RU" dirty="0"/>
              <a:t> грешка </a:t>
            </a:r>
            <a:r>
              <a:rPr lang="ru-RU" dirty="0" err="1"/>
              <a:t>през</a:t>
            </a:r>
            <a:r>
              <a:rPr lang="ru-RU" dirty="0"/>
              <a:t> </a:t>
            </a:r>
            <a:r>
              <a:rPr lang="en-US" dirty="0"/>
              <a:t>UART </a:t>
            </a:r>
            <a:r>
              <a:rPr lang="bg-BG" dirty="0"/>
              <a:t>(</a:t>
            </a:r>
            <a:r>
              <a:rPr lang="en-US" dirty="0"/>
              <a:t>Virtual COM)</a:t>
            </a:r>
            <a:endParaRPr lang="bg-BG" b="0" dirty="0"/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dirty="0"/>
              <a:t>Управление на огледалото:</a:t>
            </a:r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ru-RU" sz="1050" b="0" dirty="0" err="1"/>
              <a:t>Използване</a:t>
            </a:r>
            <a:r>
              <a:rPr lang="ru-RU" sz="1050" b="0" dirty="0"/>
              <a:t> на </a:t>
            </a:r>
            <a:r>
              <a:rPr lang="en-US" sz="1050" b="0" dirty="0"/>
              <a:t>PWM </a:t>
            </a:r>
            <a:r>
              <a:rPr lang="bg-BG" sz="1050" b="0" dirty="0"/>
              <a:t>за управление на </a:t>
            </a:r>
            <a:r>
              <a:rPr lang="bg-BG" sz="1050" b="0" dirty="0" err="1"/>
              <a:t>огедалото</a:t>
            </a:r>
            <a:r>
              <a:rPr lang="bg-BG" sz="1050" b="0" dirty="0"/>
              <a:t> по </a:t>
            </a:r>
            <a:r>
              <a:rPr lang="bg-BG" sz="1050" dirty="0"/>
              <a:t>Х и У позиция – чрез бутони</a:t>
            </a:r>
            <a:endParaRPr lang="bg-BG" sz="1050" b="0" dirty="0"/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bg-BG" sz="1050" b="0" dirty="0"/>
              <a:t>Следене на позицията на </a:t>
            </a:r>
            <a:r>
              <a:rPr lang="bg-BG" sz="1050" b="0" dirty="0" err="1"/>
              <a:t>огедалото</a:t>
            </a:r>
            <a:r>
              <a:rPr lang="bg-BG" sz="1050" b="0" dirty="0"/>
              <a:t> чре</a:t>
            </a:r>
            <a:r>
              <a:rPr lang="bg-BG" sz="1050" dirty="0"/>
              <a:t>з обратните връзки </a:t>
            </a:r>
            <a:r>
              <a:rPr lang="en-US" sz="1050" dirty="0"/>
              <a:t>–</a:t>
            </a:r>
            <a:r>
              <a:rPr lang="bg-BG" sz="1050" dirty="0"/>
              <a:t> през </a:t>
            </a:r>
            <a:r>
              <a:rPr lang="en-US" sz="1050" dirty="0"/>
              <a:t>ADC </a:t>
            </a:r>
            <a:endParaRPr lang="bg-BG" sz="1050" b="0" dirty="0"/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bg-BG" sz="1050" b="0" dirty="0"/>
              <a:t>Следене на тока на огледалото</a:t>
            </a:r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bg-BG" sz="1050" dirty="0"/>
              <a:t>Синхронно четене на обратното връзка</a:t>
            </a:r>
            <a:endParaRPr lang="bg-BG" sz="1050" b="0" dirty="0"/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sz="1450" dirty="0"/>
              <a:t>Възможности за дистанционно управление и диагностика</a:t>
            </a:r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ru-RU" sz="1050" b="0" dirty="0" err="1"/>
              <a:t>Задаване</a:t>
            </a:r>
            <a:r>
              <a:rPr lang="ru-RU" sz="1050" b="0" dirty="0"/>
              <a:t> на </a:t>
            </a:r>
            <a:r>
              <a:rPr lang="ru-RU" sz="1050" b="0" dirty="0" err="1"/>
              <a:t>позицията</a:t>
            </a:r>
            <a:r>
              <a:rPr lang="ru-RU" sz="1050" b="0" dirty="0"/>
              <a:t> на </a:t>
            </a:r>
            <a:r>
              <a:rPr lang="ru-RU" sz="1050" b="0" dirty="0" err="1"/>
              <a:t>огледалото</a:t>
            </a:r>
            <a:r>
              <a:rPr lang="ru-RU" sz="1050" b="0" dirty="0"/>
              <a:t> </a:t>
            </a:r>
            <a:r>
              <a:rPr lang="ru-RU" sz="1050" b="0" dirty="0" err="1"/>
              <a:t>през</a:t>
            </a:r>
            <a:r>
              <a:rPr lang="ru-RU" sz="1050" b="0" dirty="0"/>
              <a:t> </a:t>
            </a:r>
            <a:r>
              <a:rPr lang="en-US" sz="1050" b="0" dirty="0"/>
              <a:t>UART</a:t>
            </a:r>
            <a:endParaRPr lang="bg-BG" sz="1050" b="0" dirty="0"/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ru-RU" sz="1050" b="0" dirty="0"/>
              <a:t>Диагностика </a:t>
            </a:r>
            <a:r>
              <a:rPr lang="ru-RU" sz="1050" b="0" dirty="0" err="1"/>
              <a:t>през</a:t>
            </a:r>
            <a:r>
              <a:rPr lang="ru-RU" sz="1050" b="0" dirty="0"/>
              <a:t> </a:t>
            </a:r>
            <a:r>
              <a:rPr lang="en-US" sz="1050" b="0" dirty="0"/>
              <a:t>UART</a:t>
            </a:r>
            <a:r>
              <a:rPr lang="ru-RU" sz="1050" b="0" dirty="0"/>
              <a:t> – </a:t>
            </a:r>
            <a:r>
              <a:rPr lang="ru-RU" sz="1050" b="0" dirty="0" err="1"/>
              <a:t>Електрическа</a:t>
            </a:r>
            <a:r>
              <a:rPr lang="ru-RU" sz="1050" b="0" dirty="0"/>
              <a:t> или </a:t>
            </a:r>
            <a:r>
              <a:rPr lang="ru-RU" sz="1050" b="0" dirty="0" err="1"/>
              <a:t>логическа</a:t>
            </a:r>
            <a:r>
              <a:rPr lang="ru-RU" sz="1050" b="0" dirty="0"/>
              <a:t> </a:t>
            </a:r>
            <a:endParaRPr lang="bg-BG" sz="1050" b="0" dirty="0"/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bg-BG" sz="1050" dirty="0"/>
              <a:t>Бонус – Имплементиране на основни изисквания за </a:t>
            </a:r>
            <a:r>
              <a:rPr lang="en-US" sz="1050" dirty="0"/>
              <a:t>Cyber Security</a:t>
            </a:r>
            <a:r>
              <a:rPr lang="bg-BG" sz="1050" dirty="0"/>
              <a:t> при обмена на данни</a:t>
            </a:r>
            <a:endParaRPr lang="ru-RU" sz="1050" b="0" dirty="0"/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dirty="0"/>
              <a:t>Памет на огледалото</a:t>
            </a:r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bg-BG" b="0" dirty="0"/>
              <a:t>Запомняне на няколко позици</a:t>
            </a:r>
            <a:r>
              <a:rPr lang="bg-BG" dirty="0"/>
              <a:t>и в </a:t>
            </a:r>
            <a:r>
              <a:rPr lang="en-US" dirty="0"/>
              <a:t>NVM </a:t>
            </a:r>
            <a:r>
              <a:rPr lang="bg-BG" dirty="0"/>
              <a:t>памет и възможност за възстановяване на съответната позиция – отклонение +/- 10 единици</a:t>
            </a:r>
          </a:p>
          <a:p>
            <a:pPr marL="1316250" lvl="3" indent="-171450">
              <a:buFont typeface="Arial" panose="020B0604020202020204" pitchFamily="34" charset="0"/>
              <a:buChar char="•"/>
            </a:pPr>
            <a:r>
              <a:rPr lang="bg-BG" b="0" dirty="0"/>
              <a:t>За запомняне да се проектира подход за запис на позицията (задържане на копче за х време, задържане нагоре и надолу за х време)</a:t>
            </a:r>
          </a:p>
          <a:p>
            <a:pPr marL="1316250" lvl="3" indent="-171450">
              <a:buFont typeface="Arial" panose="020B0604020202020204" pitchFamily="34" charset="0"/>
              <a:buChar char="•"/>
            </a:pPr>
            <a:r>
              <a:rPr lang="bg-BG" dirty="0"/>
              <a:t>Максимум до 3 позиции </a:t>
            </a:r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bg-BG" dirty="0"/>
              <a:t>Диагностициране на сензорите – късо към маса/захранване, отворена верига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dirty="0" err="1"/>
              <a:t>Подгрев</a:t>
            </a:r>
            <a:r>
              <a:rPr lang="bg-BG" dirty="0"/>
              <a:t> на огледалото</a:t>
            </a:r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bg-BG" dirty="0"/>
              <a:t>Да се проектира хардуер, който да може да управлява </a:t>
            </a:r>
            <a:r>
              <a:rPr lang="bg-BG" dirty="0" err="1"/>
              <a:t>подгрева</a:t>
            </a:r>
            <a:r>
              <a:rPr lang="bg-BG" dirty="0"/>
              <a:t> на огледалото </a:t>
            </a:r>
            <a:endParaRPr lang="en-US" dirty="0"/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bg-BG" dirty="0"/>
              <a:t>Хардуерът да има възможност за диагностика при отворена верига </a:t>
            </a:r>
            <a:r>
              <a:rPr lang="bg-BG" dirty="0" err="1"/>
              <a:t>икъсо</a:t>
            </a:r>
            <a:r>
              <a:rPr lang="bg-BG" dirty="0"/>
              <a:t> към маса/захранване</a:t>
            </a:r>
          </a:p>
          <a:p>
            <a:pPr lvl="1" indent="0">
              <a:buNone/>
            </a:pPr>
            <a:r>
              <a:rPr lang="bg-BG" b="0" dirty="0"/>
              <a:t>Или</a:t>
            </a:r>
            <a:r>
              <a:rPr lang="bg-BG" dirty="0"/>
              <a:t> 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bg-BG" dirty="0"/>
              <a:t>Мигач – управление на мигач с </a:t>
            </a:r>
            <a:r>
              <a:rPr lang="en-US" dirty="0"/>
              <a:t>PWM</a:t>
            </a:r>
            <a:r>
              <a:rPr lang="bg-BG" dirty="0"/>
              <a:t>(мигане и контролиране на силата на светене)</a:t>
            </a:r>
            <a:endParaRPr lang="en-US" dirty="0"/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bg-BG" dirty="0"/>
              <a:t>Управление на интензитета на светене на мигача </a:t>
            </a:r>
          </a:p>
          <a:p>
            <a:pPr marL="913050" lvl="2" indent="-171450">
              <a:buFont typeface="Arial" panose="020B0604020202020204" pitchFamily="34" charset="0"/>
              <a:buChar char="•"/>
            </a:pPr>
            <a:r>
              <a:rPr lang="bg-BG" dirty="0"/>
              <a:t>Управление на времето мигане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Конкретни задачи за изпълнение</a:t>
            </a:r>
            <a:endParaRPr lang="bg-BG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900" noProof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476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0038" y="539635"/>
            <a:ext cx="11483975" cy="6101310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050" dirty="0"/>
              <a:t>Интерфейс с компютър</a:t>
            </a:r>
          </a:p>
          <a:p>
            <a:pPr marL="513450" lvl="1" indent="-171450">
              <a:buFont typeface="Arial" panose="020B0604020202020204" pitchFamily="34" charset="0"/>
              <a:buChar char="•"/>
            </a:pPr>
            <a:r>
              <a:rPr lang="ru-RU" sz="1050" b="0" dirty="0"/>
              <a:t>При </a:t>
            </a:r>
            <a:r>
              <a:rPr lang="ru-RU" sz="1050" b="0" dirty="0" err="1"/>
              <a:t>свързване</a:t>
            </a:r>
            <a:r>
              <a:rPr lang="ru-RU" sz="1050" b="0" dirty="0"/>
              <a:t> </a:t>
            </a:r>
            <a:r>
              <a:rPr lang="ru-RU" sz="1050" b="0" dirty="0" err="1"/>
              <a:t>към</a:t>
            </a:r>
            <a:r>
              <a:rPr lang="ru-RU" sz="1050" b="0" dirty="0"/>
              <a:t> </a:t>
            </a:r>
            <a:r>
              <a:rPr lang="ru-RU" sz="1050" b="0" dirty="0" err="1"/>
              <a:t>компютър</a:t>
            </a:r>
            <a:r>
              <a:rPr lang="ru-RU" sz="1050" b="0" dirty="0"/>
              <a:t> </a:t>
            </a:r>
            <a:r>
              <a:rPr lang="ru-RU" sz="1050" b="0" dirty="0" err="1"/>
              <a:t>през</a:t>
            </a:r>
            <a:r>
              <a:rPr lang="ru-RU" sz="1050" b="0" dirty="0"/>
              <a:t> USB порт </a:t>
            </a:r>
            <a:r>
              <a:rPr lang="ru-RU" sz="1050" b="0" dirty="0" err="1"/>
              <a:t>устройството</a:t>
            </a:r>
            <a:r>
              <a:rPr lang="ru-RU" sz="1050" b="0" dirty="0"/>
              <a:t> да се </a:t>
            </a:r>
            <a:r>
              <a:rPr lang="ru-RU" sz="1050" b="0" dirty="0" err="1"/>
              <a:t>разпознава</a:t>
            </a:r>
            <a:r>
              <a:rPr lang="ru-RU" sz="1050" b="0" dirty="0"/>
              <a:t> </a:t>
            </a:r>
            <a:r>
              <a:rPr lang="ru-RU" sz="1050" b="0" dirty="0" err="1"/>
              <a:t>като</a:t>
            </a:r>
            <a:r>
              <a:rPr lang="ru-RU" sz="1050" b="0" dirty="0"/>
              <a:t> CDC (виртуален COM порт) и да </a:t>
            </a:r>
            <a:r>
              <a:rPr lang="ru-RU" sz="1050" b="0" dirty="0" err="1"/>
              <a:t>изпраща</a:t>
            </a:r>
            <a:r>
              <a:rPr lang="ru-RU" sz="1050" b="0" dirty="0"/>
              <a:t> </a:t>
            </a:r>
            <a:r>
              <a:rPr lang="ru-RU" sz="1050" b="0" dirty="0" err="1"/>
              <a:t>през</a:t>
            </a:r>
            <a:r>
              <a:rPr lang="ru-RU" sz="1050" b="0" dirty="0"/>
              <a:t> </a:t>
            </a:r>
            <a:r>
              <a:rPr lang="ru-RU" sz="1050" b="0" dirty="0" err="1"/>
              <a:t>една</a:t>
            </a:r>
            <a:r>
              <a:rPr lang="ru-RU" sz="1050" b="0" dirty="0"/>
              <a:t> секунда</a:t>
            </a:r>
          </a:p>
          <a:p>
            <a:r>
              <a:rPr lang="en-ZW" sz="1050" b="0" dirty="0"/>
              <a:t>YYYY,XXXX,ERROR_CNT,ERR_0,ERR_1,ERR_2,….,ERR_N, </a:t>
            </a:r>
            <a:r>
              <a:rPr lang="en-US" sz="1050" b="0" dirty="0"/>
              <a:t>CRC(opt)</a:t>
            </a:r>
            <a:r>
              <a:rPr lang="bg-BG" sz="1050" b="0" dirty="0"/>
              <a:t>,</a:t>
            </a:r>
            <a:r>
              <a:rPr lang="en-US" sz="1050" b="0" dirty="0"/>
              <a:t> </a:t>
            </a:r>
            <a:r>
              <a:rPr lang="en-ZW" sz="1050" b="0" dirty="0"/>
              <a:t>CRLF</a:t>
            </a:r>
          </a:p>
          <a:p>
            <a:r>
              <a:rPr lang="bg-BG" sz="1050" b="0" dirty="0"/>
              <a:t>където: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b="0" dirty="0"/>
              <a:t>YYYY – Y </a:t>
            </a:r>
            <a:r>
              <a:rPr lang="bg-BG" sz="1050" b="0" dirty="0"/>
              <a:t>Позицията на огледалото в </a:t>
            </a:r>
            <a:r>
              <a:rPr lang="en-US" sz="1050" b="0" dirty="0"/>
              <a:t>ADC </a:t>
            </a:r>
            <a:r>
              <a:rPr lang="bg-BG" sz="1050" b="0" dirty="0"/>
              <a:t>единици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/>
              <a:t>XXXX </a:t>
            </a:r>
            <a:r>
              <a:rPr lang="ru-RU" sz="1050" b="0" dirty="0"/>
              <a:t>– </a:t>
            </a:r>
            <a:r>
              <a:rPr lang="en-US" sz="1050" b="0" dirty="0"/>
              <a:t>X </a:t>
            </a:r>
            <a:r>
              <a:rPr lang="bg-BG" sz="1050" b="0" dirty="0"/>
              <a:t>Позицията на огледалото в </a:t>
            </a:r>
            <a:r>
              <a:rPr lang="en-US" sz="1050" b="0" dirty="0"/>
              <a:t>ADC</a:t>
            </a:r>
            <a:r>
              <a:rPr lang="bg-BG" sz="1050" b="0" dirty="0"/>
              <a:t> единици</a:t>
            </a:r>
            <a:endParaRPr lang="ru-RU"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/>
              <a:t>ERROR_CNT</a:t>
            </a:r>
            <a:r>
              <a:rPr lang="bg-BG" sz="1050" b="0" dirty="0"/>
              <a:t>– брой на грешки </a:t>
            </a:r>
            <a:endParaRPr lang="en-ZW" sz="105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W" sz="1050" b="0" dirty="0"/>
              <a:t>ERR_0,ERR_N – </a:t>
            </a:r>
            <a:r>
              <a:rPr lang="bg-BG" sz="1050" b="0" dirty="0"/>
              <a:t>Грешките който са вдигнати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0" dirty="0"/>
              <a:t>CRLF – Carriage Return, Line Feed (0x0D,0x0A)</a:t>
            </a:r>
          </a:p>
          <a:p>
            <a:r>
              <a:rPr lang="bg-BG" sz="1050" b="0" dirty="0"/>
              <a:t>Пример:</a:t>
            </a:r>
            <a:r>
              <a:rPr lang="en-US" sz="1050" b="0" dirty="0"/>
              <a:t>  </a:t>
            </a:r>
            <a:r>
              <a:rPr lang="bg-BG" sz="1050" b="0" dirty="0"/>
              <a:t>2599, 2300, </a:t>
            </a:r>
            <a:r>
              <a:rPr lang="en-US" sz="1050" b="0" dirty="0"/>
              <a:t>3</a:t>
            </a:r>
            <a:r>
              <a:rPr lang="bg-BG" sz="1050" b="0" dirty="0"/>
              <a:t> , </a:t>
            </a:r>
            <a:r>
              <a:rPr lang="en-US" sz="1050" b="0" dirty="0"/>
              <a:t>S2VBAT_X, OL_Y, OL_Y_SENS CRLF</a:t>
            </a:r>
            <a:endParaRPr lang="bg-BG" sz="1050" b="0" dirty="0"/>
          </a:p>
          <a:p>
            <a:r>
              <a:rPr lang="bg-BG" sz="1050" dirty="0"/>
              <a:t>Бонус – </a:t>
            </a:r>
            <a:r>
              <a:rPr lang="en-US" sz="1050" dirty="0"/>
              <a:t>CRC</a:t>
            </a:r>
            <a:r>
              <a:rPr lang="bg-BG" sz="1050" dirty="0"/>
              <a:t> на данните </a:t>
            </a:r>
            <a:r>
              <a:rPr lang="en-US" sz="1050" dirty="0"/>
              <a:t> </a:t>
            </a:r>
            <a:r>
              <a:rPr lang="en-US" sz="1050" dirty="0" smtClean="0"/>
              <a:t>+ HASH</a:t>
            </a:r>
            <a:r>
              <a:rPr lang="en-US" sz="1050" dirty="0"/>
              <a:t> 4byte</a:t>
            </a:r>
          </a:p>
          <a:p>
            <a:endParaRPr lang="en-US" sz="1050" b="0" dirty="0"/>
          </a:p>
          <a:p>
            <a:r>
              <a:rPr lang="bg-BG" sz="1050" b="0" dirty="0"/>
              <a:t> При изпращане на команда компютърът трябва да изпрати съответния формат за управлението на огледалото:</a:t>
            </a:r>
          </a:p>
          <a:p>
            <a:r>
              <a:rPr lang="en-US" sz="1050" b="0" dirty="0"/>
              <a:t>MIR, YYYY,XXXX, CRC,CRLF</a:t>
            </a:r>
            <a:endParaRPr lang="bg-BG" sz="1050" b="0" dirty="0"/>
          </a:p>
          <a:p>
            <a:r>
              <a:rPr lang="en-ZW" sz="1050" b="0" dirty="0"/>
              <a:t> YYYY – Y </a:t>
            </a:r>
            <a:r>
              <a:rPr lang="bg-BG" sz="1050" b="0" dirty="0"/>
              <a:t>Позицията на огледалото в </a:t>
            </a:r>
            <a:r>
              <a:rPr lang="en-US" sz="1050" b="0" dirty="0"/>
              <a:t>ADC </a:t>
            </a:r>
            <a:r>
              <a:rPr lang="bg-BG" sz="1050" b="0" dirty="0"/>
              <a:t>единици</a:t>
            </a:r>
          </a:p>
          <a:p>
            <a:r>
              <a:rPr lang="ru-RU" sz="1050" b="0" dirty="0"/>
              <a:t></a:t>
            </a:r>
            <a:r>
              <a:rPr lang="en-US" sz="1050" b="0" dirty="0"/>
              <a:t> XXXX </a:t>
            </a:r>
            <a:r>
              <a:rPr lang="ru-RU" sz="1050" b="0" dirty="0"/>
              <a:t>– </a:t>
            </a:r>
            <a:r>
              <a:rPr lang="en-US" sz="1050" b="0" dirty="0"/>
              <a:t>X </a:t>
            </a:r>
            <a:r>
              <a:rPr lang="bg-BG" sz="1050" b="0" dirty="0"/>
              <a:t>Позицията на огледалото в </a:t>
            </a:r>
            <a:r>
              <a:rPr lang="en-US" sz="1050" b="0" dirty="0"/>
              <a:t>ADC</a:t>
            </a:r>
            <a:r>
              <a:rPr lang="bg-BG" sz="1050" b="0" dirty="0"/>
              <a:t> единици</a:t>
            </a:r>
            <a:endParaRPr lang="ru-RU" sz="1050" b="0" dirty="0"/>
          </a:p>
          <a:p>
            <a:r>
              <a:rPr lang="bg-BG" sz="1050" dirty="0"/>
              <a:t>Бонус – </a:t>
            </a:r>
            <a:r>
              <a:rPr lang="en-US" sz="1050" dirty="0"/>
              <a:t>CRC</a:t>
            </a:r>
            <a:r>
              <a:rPr lang="bg-BG" sz="1050" dirty="0"/>
              <a:t> на данните да се разпознава дали е валидно </a:t>
            </a:r>
            <a:r>
              <a:rPr lang="bg-BG" sz="1050" dirty="0" smtClean="0"/>
              <a:t>от </a:t>
            </a:r>
            <a:r>
              <a:rPr lang="bg-BG" sz="1050" dirty="0"/>
              <a:t>системата </a:t>
            </a:r>
            <a:r>
              <a:rPr lang="en-US" sz="1050" dirty="0"/>
              <a:t> </a:t>
            </a:r>
            <a:r>
              <a:rPr lang="en-US" sz="1050" dirty="0" smtClean="0"/>
              <a:t>+ HASH 4byte</a:t>
            </a:r>
            <a:endParaRPr lang="bg-BG" sz="1050" dirty="0"/>
          </a:p>
          <a:p>
            <a:endParaRPr lang="bg-BG" sz="1050" b="0" dirty="0"/>
          </a:p>
          <a:p>
            <a:r>
              <a:rPr lang="bg-BG" sz="1050" b="0" dirty="0"/>
              <a:t> При изпращане на команда компютърът трябва да изпрати съответния формат за управлението на мигача:</a:t>
            </a:r>
          </a:p>
          <a:p>
            <a:r>
              <a:rPr lang="en-US" sz="1050" b="0" dirty="0"/>
              <a:t>TURNINDC, PWM ,T_ON, T_OFF, CRC</a:t>
            </a:r>
            <a:r>
              <a:rPr lang="bg-BG" sz="1050" b="0" dirty="0"/>
              <a:t>,</a:t>
            </a:r>
            <a:r>
              <a:rPr lang="en-US" sz="1050" b="0" dirty="0"/>
              <a:t>ACNT,CRLF</a:t>
            </a:r>
            <a:endParaRPr lang="bg-BG" sz="1050" b="0" dirty="0"/>
          </a:p>
          <a:p>
            <a:r>
              <a:rPr lang="en-ZW" sz="1050" b="0" dirty="0"/>
              <a:t> </a:t>
            </a:r>
            <a:r>
              <a:rPr lang="en-US" sz="1050" b="0" dirty="0"/>
              <a:t>PWM</a:t>
            </a:r>
            <a:r>
              <a:rPr lang="en-ZW" sz="1050" b="0" dirty="0"/>
              <a:t> </a:t>
            </a:r>
            <a:r>
              <a:rPr lang="bg-BG" sz="1050" b="0" dirty="0"/>
              <a:t>– силата на светене – от 0 до 100</a:t>
            </a:r>
          </a:p>
          <a:p>
            <a:r>
              <a:rPr lang="ru-RU" sz="1050" b="0" dirty="0"/>
              <a:t></a:t>
            </a:r>
            <a:r>
              <a:rPr lang="en-US" sz="1050" b="0" dirty="0"/>
              <a:t> T_ON </a:t>
            </a:r>
            <a:r>
              <a:rPr lang="ru-RU" sz="1050" b="0" dirty="0"/>
              <a:t>– </a:t>
            </a:r>
            <a:r>
              <a:rPr lang="bg-BG" sz="1050" b="0" dirty="0"/>
              <a:t>Времето на включено състояние -  0 – 1000 – в милисекунди</a:t>
            </a:r>
            <a:endParaRPr lang="en-US" sz="1050" b="0" dirty="0"/>
          </a:p>
          <a:p>
            <a:r>
              <a:rPr lang="ru-RU" sz="1050" b="0" dirty="0"/>
              <a:t></a:t>
            </a:r>
            <a:r>
              <a:rPr lang="en-US" sz="1050" b="0" dirty="0"/>
              <a:t> T_OFF </a:t>
            </a:r>
            <a:r>
              <a:rPr lang="ru-RU" sz="1050" b="0" dirty="0"/>
              <a:t>– </a:t>
            </a:r>
            <a:r>
              <a:rPr lang="bg-BG" sz="1050" b="0" dirty="0"/>
              <a:t>Времето на изключено състояние  0 – 1000 – в милисекунди</a:t>
            </a:r>
          </a:p>
          <a:p>
            <a:r>
              <a:rPr lang="bg-BG" sz="1050" dirty="0"/>
              <a:t>Бонус – </a:t>
            </a:r>
            <a:r>
              <a:rPr lang="en-US" sz="1050" dirty="0"/>
              <a:t>CRC</a:t>
            </a:r>
            <a:r>
              <a:rPr lang="bg-BG" sz="1050" dirty="0"/>
              <a:t> на данните да се разпознава дали е валидно или не от системата</a:t>
            </a:r>
            <a:r>
              <a:rPr lang="en-US" sz="1050" dirty="0"/>
              <a:t>,</a:t>
            </a:r>
          </a:p>
          <a:p>
            <a:r>
              <a:rPr lang="bg-BG" sz="1050" dirty="0"/>
              <a:t>Бонус</a:t>
            </a:r>
            <a:r>
              <a:rPr lang="en-US" sz="1050" dirty="0"/>
              <a:t> 2</a:t>
            </a:r>
            <a:r>
              <a:rPr lang="bg-BG" sz="1050" dirty="0"/>
              <a:t> – </a:t>
            </a:r>
            <a:r>
              <a:rPr lang="en-US" sz="1050" dirty="0"/>
              <a:t>ACNT - alive counter</a:t>
            </a:r>
            <a:endParaRPr lang="bg-BG" sz="1050" dirty="0"/>
          </a:p>
          <a:p>
            <a:endParaRPr lang="ru-RU" sz="1050" b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Протокол за диагностика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7748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0038" y="523702"/>
            <a:ext cx="11483975" cy="5726603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800" dirty="0"/>
              <a:t>На основа на </a:t>
            </a:r>
            <a:r>
              <a:rPr lang="ru-RU" sz="1800" dirty="0" err="1"/>
              <a:t>свършената</a:t>
            </a:r>
            <a:r>
              <a:rPr lang="ru-RU" sz="1800" dirty="0"/>
              <a:t> </a:t>
            </a:r>
            <a:r>
              <a:rPr lang="ru-RU" sz="1800" dirty="0" err="1"/>
              <a:t>групова</a:t>
            </a:r>
            <a:r>
              <a:rPr lang="ru-RU" sz="1800" dirty="0"/>
              <a:t> работа:</a:t>
            </a:r>
          </a:p>
          <a:p>
            <a:pPr marL="570600" lvl="1" indent="-228600">
              <a:buFont typeface="+mj-lt"/>
              <a:buAutoNum type="arabicPeriod"/>
            </a:pPr>
            <a:r>
              <a:rPr lang="ru-RU" sz="1800" b="0" dirty="0"/>
              <a:t>Успешно </a:t>
            </a:r>
            <a:r>
              <a:rPr lang="ru-RU" sz="1800" b="0" dirty="0" err="1"/>
              <a:t>реализирани</a:t>
            </a:r>
            <a:r>
              <a:rPr lang="ru-RU" sz="1800" b="0" dirty="0"/>
              <a:t> задачи от упражнения – (3т)</a:t>
            </a:r>
          </a:p>
          <a:p>
            <a:pPr marL="570600" lvl="1" indent="-228600">
              <a:buFont typeface="+mj-lt"/>
              <a:buAutoNum type="arabicPeriod"/>
            </a:pPr>
            <a:r>
              <a:rPr lang="ru-RU" sz="1800" b="0" dirty="0" err="1"/>
              <a:t>Начална</a:t>
            </a:r>
            <a:r>
              <a:rPr lang="ru-RU" sz="1800" b="0" dirty="0"/>
              <a:t> документация:</a:t>
            </a:r>
          </a:p>
          <a:p>
            <a:pPr marL="970200" lvl="2" indent="-228600">
              <a:buFont typeface="+mj-lt"/>
              <a:buAutoNum type="alphaLcParenR"/>
            </a:pPr>
            <a:r>
              <a:rPr lang="ru-RU" b="0" dirty="0" err="1"/>
              <a:t>Ръководство</a:t>
            </a:r>
            <a:r>
              <a:rPr lang="ru-RU" b="0" dirty="0"/>
              <a:t> на потребителя – </a:t>
            </a:r>
            <a:r>
              <a:rPr lang="ru-RU" b="0" dirty="0" err="1"/>
              <a:t>трябва</a:t>
            </a:r>
            <a:r>
              <a:rPr lang="ru-RU" b="0" dirty="0"/>
              <a:t> да </a:t>
            </a:r>
            <a:r>
              <a:rPr lang="ru-RU" b="0" dirty="0" err="1"/>
              <a:t>описва</a:t>
            </a:r>
            <a:r>
              <a:rPr lang="ru-RU" b="0" dirty="0"/>
              <a:t> </a:t>
            </a:r>
            <a:r>
              <a:rPr lang="ru-RU" b="0" dirty="0" err="1"/>
              <a:t>всички</a:t>
            </a:r>
            <a:r>
              <a:rPr lang="ru-RU" b="0" dirty="0"/>
              <a:t> </a:t>
            </a:r>
            <a:r>
              <a:rPr lang="ru-RU" b="0" dirty="0" err="1"/>
              <a:t>планирани</a:t>
            </a:r>
            <a:r>
              <a:rPr lang="ru-RU" b="0" dirty="0"/>
              <a:t> функции на </a:t>
            </a:r>
            <a:r>
              <a:rPr lang="ru-RU" b="0" dirty="0" err="1"/>
              <a:t>устройството</a:t>
            </a:r>
            <a:r>
              <a:rPr lang="ru-RU" b="0" dirty="0"/>
              <a:t>, </a:t>
            </a:r>
            <a:r>
              <a:rPr lang="ru-RU" b="0" dirty="0" err="1"/>
              <a:t>изглед</a:t>
            </a:r>
            <a:r>
              <a:rPr lang="ru-RU" b="0" dirty="0"/>
              <a:t>, </a:t>
            </a:r>
            <a:r>
              <a:rPr lang="ru-RU" b="0" dirty="0" err="1"/>
              <a:t>интерфейси</a:t>
            </a:r>
            <a:r>
              <a:rPr lang="ru-RU" b="0" dirty="0"/>
              <a:t> – (10т)</a:t>
            </a:r>
          </a:p>
          <a:p>
            <a:pPr marL="970200" lvl="2" indent="-228600">
              <a:buFont typeface="+mj-lt"/>
              <a:buAutoNum type="alphaLcParenR"/>
            </a:pPr>
            <a:r>
              <a:rPr lang="ru-RU" b="0" dirty="0"/>
              <a:t>Архитектурен дизайн – </a:t>
            </a:r>
            <a:r>
              <a:rPr lang="ru-RU" b="0" dirty="0" err="1"/>
              <a:t>трябва</a:t>
            </a:r>
            <a:r>
              <a:rPr lang="ru-RU" b="0" dirty="0"/>
              <a:t> да </a:t>
            </a:r>
            <a:r>
              <a:rPr lang="ru-RU" b="0" dirty="0" err="1"/>
              <a:t>описва</a:t>
            </a:r>
            <a:r>
              <a:rPr lang="ru-RU" b="0" dirty="0"/>
              <a:t> </a:t>
            </a:r>
            <a:r>
              <a:rPr lang="ru-RU" b="0" dirty="0" err="1"/>
              <a:t>отделните</a:t>
            </a:r>
            <a:r>
              <a:rPr lang="ru-RU" b="0" dirty="0"/>
              <a:t> </a:t>
            </a:r>
            <a:r>
              <a:rPr lang="ru-RU" b="0" dirty="0" err="1"/>
              <a:t>софтуерни</a:t>
            </a:r>
            <a:r>
              <a:rPr lang="ru-RU" b="0" dirty="0"/>
              <a:t> модули на </a:t>
            </a:r>
            <a:r>
              <a:rPr lang="ru-RU" b="0" dirty="0" err="1"/>
              <a:t>устройството</a:t>
            </a:r>
            <a:r>
              <a:rPr lang="ru-RU" b="0" dirty="0"/>
              <a:t>, </a:t>
            </a:r>
            <a:r>
              <a:rPr lang="ru-RU" b="0" dirty="0" err="1"/>
              <a:t>както</a:t>
            </a:r>
            <a:r>
              <a:rPr lang="ru-RU" b="0" dirty="0"/>
              <a:t> и да </a:t>
            </a:r>
            <a:r>
              <a:rPr lang="ru-RU" b="0" dirty="0" err="1"/>
              <a:t>дефинира</a:t>
            </a:r>
            <a:r>
              <a:rPr lang="ru-RU" b="0" dirty="0"/>
              <a:t> </a:t>
            </a:r>
            <a:r>
              <a:rPr lang="ru-RU" b="0" dirty="0" err="1"/>
              <a:t>интерфейсите</a:t>
            </a:r>
            <a:r>
              <a:rPr lang="ru-RU" b="0" dirty="0"/>
              <a:t> между </a:t>
            </a:r>
            <a:r>
              <a:rPr lang="ru-RU" b="0" dirty="0" err="1"/>
              <a:t>тях</a:t>
            </a:r>
            <a:r>
              <a:rPr lang="ru-RU" b="0" dirty="0"/>
              <a:t> – (5т)</a:t>
            </a:r>
          </a:p>
          <a:p>
            <a:pPr marL="970200" lvl="2" indent="-228600">
              <a:buFont typeface="+mj-lt"/>
              <a:buAutoNum type="alphaLcParenR"/>
            </a:pPr>
            <a:r>
              <a:rPr lang="ru-RU" b="0" dirty="0" err="1"/>
              <a:t>Харудерен</a:t>
            </a:r>
            <a:r>
              <a:rPr lang="ru-RU" b="0" dirty="0"/>
              <a:t> дизайн – </a:t>
            </a:r>
            <a:r>
              <a:rPr lang="ru-RU" b="0" dirty="0" err="1"/>
              <a:t>трябва</a:t>
            </a:r>
            <a:r>
              <a:rPr lang="ru-RU" b="0" dirty="0"/>
              <a:t> да </a:t>
            </a:r>
            <a:r>
              <a:rPr lang="ru-RU" b="0" dirty="0" err="1"/>
              <a:t>описва</a:t>
            </a:r>
            <a:r>
              <a:rPr lang="ru-RU" b="0" dirty="0"/>
              <a:t> </a:t>
            </a:r>
            <a:r>
              <a:rPr lang="ru-RU" b="0" dirty="0" err="1"/>
              <a:t>отделните</a:t>
            </a:r>
            <a:r>
              <a:rPr lang="ru-RU" b="0" dirty="0"/>
              <a:t> </a:t>
            </a:r>
            <a:r>
              <a:rPr lang="ru-RU" b="0" dirty="0" err="1"/>
              <a:t>хардуерни</a:t>
            </a:r>
            <a:r>
              <a:rPr lang="ru-RU" b="0" dirty="0"/>
              <a:t> модули в </a:t>
            </a:r>
            <a:r>
              <a:rPr lang="ru-RU" b="0" dirty="0" err="1"/>
              <a:t>устройството</a:t>
            </a:r>
            <a:r>
              <a:rPr lang="ru-RU" b="0" dirty="0"/>
              <a:t>, </a:t>
            </a:r>
            <a:r>
              <a:rPr lang="ru-RU" b="0" dirty="0" err="1"/>
              <a:t>както</a:t>
            </a:r>
            <a:r>
              <a:rPr lang="ru-RU" b="0" dirty="0"/>
              <a:t> и да </a:t>
            </a:r>
            <a:r>
              <a:rPr lang="ru-RU" b="0" dirty="0" err="1"/>
              <a:t>връзките</a:t>
            </a:r>
            <a:r>
              <a:rPr lang="ru-RU" b="0" dirty="0"/>
              <a:t> между </a:t>
            </a:r>
            <a:r>
              <a:rPr lang="ru-RU" b="0" dirty="0" err="1"/>
              <a:t>тях</a:t>
            </a:r>
            <a:r>
              <a:rPr lang="ru-RU" b="0" dirty="0"/>
              <a:t> и </a:t>
            </a:r>
            <a:r>
              <a:rPr lang="ru-RU" b="0" dirty="0" err="1"/>
              <a:t>интерфейсите</a:t>
            </a:r>
            <a:r>
              <a:rPr lang="ru-RU" b="0" dirty="0"/>
              <a:t> между </a:t>
            </a:r>
            <a:r>
              <a:rPr lang="ru-RU" b="0" dirty="0" err="1"/>
              <a:t>хардуера</a:t>
            </a:r>
            <a:r>
              <a:rPr lang="ru-RU" b="0" dirty="0"/>
              <a:t> и </a:t>
            </a:r>
            <a:r>
              <a:rPr lang="ru-RU" b="0" dirty="0" err="1"/>
              <a:t>софтуера</a:t>
            </a:r>
            <a:r>
              <a:rPr lang="ru-RU" b="0" dirty="0"/>
              <a:t> – (5т)</a:t>
            </a:r>
          </a:p>
          <a:p>
            <a:pPr marL="970200" lvl="2" indent="-228600">
              <a:buFont typeface="+mj-lt"/>
              <a:buAutoNum type="alphaLcParenR"/>
            </a:pPr>
            <a:r>
              <a:rPr lang="ru-RU" b="0" dirty="0" err="1"/>
              <a:t>Планиране</a:t>
            </a:r>
            <a:r>
              <a:rPr lang="ru-RU" b="0" dirty="0"/>
              <a:t> на проекта – общи правила за работа, </a:t>
            </a:r>
            <a:r>
              <a:rPr lang="ru-RU" b="0" dirty="0" err="1"/>
              <a:t>разпределение</a:t>
            </a:r>
            <a:r>
              <a:rPr lang="ru-RU" b="0" dirty="0"/>
              <a:t> на </a:t>
            </a:r>
            <a:r>
              <a:rPr lang="ru-RU" b="0" dirty="0" err="1"/>
              <a:t>задачите</a:t>
            </a:r>
            <a:r>
              <a:rPr lang="ru-RU" b="0" dirty="0"/>
              <a:t> и график за </a:t>
            </a:r>
            <a:r>
              <a:rPr lang="ru-RU" b="0" dirty="0" err="1"/>
              <a:t>изпълнението</a:t>
            </a:r>
            <a:r>
              <a:rPr lang="ru-RU" b="0" dirty="0"/>
              <a:t> им, </a:t>
            </a:r>
            <a:r>
              <a:rPr lang="ru-RU" b="0" dirty="0" err="1"/>
              <a:t>комуникационен</a:t>
            </a:r>
            <a:r>
              <a:rPr lang="ru-RU" b="0" dirty="0"/>
              <a:t> план на </a:t>
            </a:r>
            <a:r>
              <a:rPr lang="ru-RU" b="0" dirty="0" err="1"/>
              <a:t>екипа</a:t>
            </a:r>
            <a:r>
              <a:rPr lang="ru-RU" b="0" dirty="0"/>
              <a:t> (5т)</a:t>
            </a:r>
          </a:p>
          <a:p>
            <a:pPr marL="684900" lvl="1" indent="-342900">
              <a:buFont typeface="+mj-lt"/>
              <a:buAutoNum type="arabicPeriod"/>
            </a:pPr>
            <a:r>
              <a:rPr lang="ru-RU" sz="1800" b="0" dirty="0" err="1"/>
              <a:t>Финална</a:t>
            </a:r>
            <a:r>
              <a:rPr lang="ru-RU" sz="1800" b="0" dirty="0"/>
              <a:t> документация:</a:t>
            </a:r>
          </a:p>
          <a:p>
            <a:pPr marL="970200" lvl="2" indent="-228600">
              <a:buFont typeface="+mj-lt"/>
              <a:buAutoNum type="alphaLcParenR"/>
            </a:pPr>
            <a:r>
              <a:rPr lang="ru-RU" b="0" dirty="0" err="1"/>
              <a:t>Финална</a:t>
            </a:r>
            <a:r>
              <a:rPr lang="ru-RU" b="0" dirty="0"/>
              <a:t> версия на </a:t>
            </a:r>
            <a:r>
              <a:rPr lang="ru-RU" b="0" dirty="0" err="1"/>
              <a:t>ръководство</a:t>
            </a:r>
            <a:r>
              <a:rPr lang="ru-RU" b="0" dirty="0"/>
              <a:t> на потребителя и </a:t>
            </a:r>
            <a:r>
              <a:rPr lang="ru-RU" b="0" dirty="0" err="1"/>
              <a:t>архитектурния</a:t>
            </a:r>
            <a:r>
              <a:rPr lang="ru-RU" b="0" dirty="0"/>
              <a:t> дизайн, </a:t>
            </a:r>
            <a:r>
              <a:rPr lang="ru-RU" b="0" dirty="0" err="1"/>
              <a:t>отразяващи</a:t>
            </a:r>
            <a:r>
              <a:rPr lang="ru-RU" b="0" dirty="0"/>
              <a:t> </a:t>
            </a:r>
            <a:r>
              <a:rPr lang="ru-RU" b="0" dirty="0" err="1"/>
              <a:t>направени</a:t>
            </a:r>
            <a:r>
              <a:rPr lang="ru-RU" b="0" dirty="0"/>
              <a:t> </a:t>
            </a:r>
            <a:r>
              <a:rPr lang="ru-RU" b="0" dirty="0" err="1"/>
              <a:t>промени</a:t>
            </a:r>
            <a:r>
              <a:rPr lang="ru-RU" b="0" dirty="0"/>
              <a:t> и </a:t>
            </a:r>
            <a:r>
              <a:rPr lang="ru-RU" b="0" dirty="0" err="1"/>
              <a:t>допълнения</a:t>
            </a:r>
            <a:r>
              <a:rPr lang="ru-RU" b="0" dirty="0"/>
              <a:t> (10т при </a:t>
            </a:r>
            <a:r>
              <a:rPr lang="ru-RU" b="0" dirty="0" err="1"/>
              <a:t>разлика</a:t>
            </a:r>
            <a:r>
              <a:rPr lang="ru-RU" b="0" dirty="0"/>
              <a:t> по малка от 25% </a:t>
            </a:r>
            <a:r>
              <a:rPr lang="ru-RU" b="0" dirty="0" err="1"/>
              <a:t>спрямо</a:t>
            </a:r>
            <a:r>
              <a:rPr lang="ru-RU" b="0" dirty="0"/>
              <a:t> </a:t>
            </a:r>
            <a:r>
              <a:rPr lang="ru-RU" b="0" dirty="0" err="1"/>
              <a:t>началната</a:t>
            </a:r>
            <a:r>
              <a:rPr lang="ru-RU" b="0" dirty="0"/>
              <a:t> документация или 5т при по </a:t>
            </a:r>
            <a:r>
              <a:rPr lang="ru-RU" b="0" dirty="0" err="1"/>
              <a:t>голяма</a:t>
            </a:r>
            <a:r>
              <a:rPr lang="ru-RU" b="0" dirty="0"/>
              <a:t> </a:t>
            </a:r>
            <a:r>
              <a:rPr lang="ru-RU" b="0" dirty="0" err="1"/>
              <a:t>разлика</a:t>
            </a:r>
            <a:r>
              <a:rPr lang="ru-RU" b="0" dirty="0"/>
              <a:t>)</a:t>
            </a:r>
          </a:p>
          <a:p>
            <a:pPr marL="970200" lvl="2" indent="-228600">
              <a:buFont typeface="+mj-lt"/>
              <a:buAutoNum type="alphaLcParenR"/>
            </a:pPr>
            <a:r>
              <a:rPr lang="ru-RU" b="0" dirty="0" err="1"/>
              <a:t>Работещ</a:t>
            </a:r>
            <a:r>
              <a:rPr lang="ru-RU" b="0" dirty="0"/>
              <a:t> “</a:t>
            </a:r>
            <a:r>
              <a:rPr lang="ru-RU" b="0" dirty="0" err="1"/>
              <a:t>hex</a:t>
            </a:r>
            <a:r>
              <a:rPr lang="ru-RU" b="0" dirty="0"/>
              <a:t>” файл </a:t>
            </a:r>
            <a:r>
              <a:rPr lang="ru-RU" b="0" dirty="0" err="1"/>
              <a:t>отразяващ</a:t>
            </a:r>
            <a:r>
              <a:rPr lang="ru-RU" b="0" dirty="0"/>
              <a:t> </a:t>
            </a:r>
            <a:r>
              <a:rPr lang="ru-RU" b="0" dirty="0" err="1"/>
              <a:t>пълната</a:t>
            </a:r>
            <a:r>
              <a:rPr lang="ru-RU" b="0" dirty="0"/>
              <a:t> </a:t>
            </a:r>
            <a:r>
              <a:rPr lang="ru-RU" b="0" dirty="0" err="1"/>
              <a:t>функционалност</a:t>
            </a:r>
            <a:r>
              <a:rPr lang="ru-RU" b="0" dirty="0"/>
              <a:t> – (5т)</a:t>
            </a:r>
          </a:p>
          <a:p>
            <a:pPr marL="970200" lvl="2" indent="-228600">
              <a:buFont typeface="+mj-lt"/>
              <a:buAutoNum type="alphaLcParenR"/>
            </a:pPr>
            <a:r>
              <a:rPr lang="ru-RU" b="0" dirty="0" err="1"/>
              <a:t>Принципна</a:t>
            </a:r>
            <a:r>
              <a:rPr lang="ru-RU" b="0" dirty="0"/>
              <a:t> схема на </a:t>
            </a:r>
            <a:r>
              <a:rPr lang="ru-RU" b="0" dirty="0" err="1"/>
              <a:t>устройсвото</a:t>
            </a:r>
            <a:r>
              <a:rPr lang="ru-RU" b="0" dirty="0"/>
              <a:t> и </a:t>
            </a:r>
            <a:r>
              <a:rPr lang="ru-RU" b="0" dirty="0" err="1"/>
              <a:t>дефинирани</a:t>
            </a:r>
            <a:r>
              <a:rPr lang="ru-RU" b="0" dirty="0"/>
              <a:t> </a:t>
            </a:r>
            <a:r>
              <a:rPr lang="ru-RU" b="0" dirty="0" err="1"/>
              <a:t>интерфейси</a:t>
            </a:r>
            <a:r>
              <a:rPr lang="ru-RU" b="0" dirty="0"/>
              <a:t> между </a:t>
            </a:r>
            <a:r>
              <a:rPr lang="ru-RU" b="0" dirty="0" err="1"/>
              <a:t>хардуер</a:t>
            </a:r>
            <a:r>
              <a:rPr lang="ru-RU" b="0" dirty="0"/>
              <a:t> и </a:t>
            </a:r>
            <a:r>
              <a:rPr lang="ru-RU" b="0" dirty="0" err="1"/>
              <a:t>софтуер</a:t>
            </a:r>
            <a:r>
              <a:rPr lang="ru-RU" b="0" dirty="0"/>
              <a:t> (</a:t>
            </a:r>
            <a:r>
              <a:rPr lang="ru-RU" b="0" dirty="0" err="1"/>
              <a:t>документало</a:t>
            </a:r>
            <a:r>
              <a:rPr lang="ru-RU" b="0" dirty="0"/>
              <a:t>) (5т)</a:t>
            </a:r>
          </a:p>
          <a:p>
            <a:pPr marL="684900" lvl="1" indent="-342900">
              <a:buFont typeface="+mj-lt"/>
              <a:buAutoNum type="arabicPeriod"/>
            </a:pPr>
            <a:r>
              <a:rPr lang="ru-RU" sz="1800" b="0" dirty="0"/>
              <a:t>Демонстрация на </a:t>
            </a:r>
            <a:r>
              <a:rPr lang="ru-RU" sz="1800" b="0" dirty="0" err="1"/>
              <a:t>работещ</a:t>
            </a:r>
            <a:r>
              <a:rPr lang="ru-RU" sz="1800" b="0" dirty="0"/>
              <a:t> образец – за </a:t>
            </a:r>
            <a:r>
              <a:rPr lang="ru-RU" sz="1800" b="0" dirty="0" err="1"/>
              <a:t>целта</a:t>
            </a:r>
            <a:r>
              <a:rPr lang="ru-RU" sz="1800" b="0" dirty="0"/>
              <a:t> </a:t>
            </a:r>
            <a:r>
              <a:rPr lang="ru-RU" sz="1800" b="0" dirty="0" err="1"/>
              <a:t>ръководителя</a:t>
            </a:r>
            <a:r>
              <a:rPr lang="ru-RU" sz="1800" b="0" dirty="0"/>
              <a:t> на </a:t>
            </a:r>
            <a:r>
              <a:rPr lang="ru-RU" sz="1800" b="0" dirty="0" err="1"/>
              <a:t>екипа</a:t>
            </a:r>
            <a:r>
              <a:rPr lang="ru-RU" sz="1800" b="0" dirty="0"/>
              <a:t> </a:t>
            </a:r>
            <a:r>
              <a:rPr lang="ru-RU" sz="1800" b="0" dirty="0" err="1"/>
              <a:t>зарежда</a:t>
            </a:r>
            <a:r>
              <a:rPr lang="ru-RU" sz="1800" b="0" dirty="0"/>
              <a:t> </a:t>
            </a:r>
            <a:r>
              <a:rPr lang="ru-RU" sz="1800" b="0" dirty="0" err="1"/>
              <a:t>предоставеният</a:t>
            </a:r>
            <a:r>
              <a:rPr lang="ru-RU" sz="1800" b="0" dirty="0"/>
              <a:t> </a:t>
            </a:r>
            <a:r>
              <a:rPr lang="ru-RU" sz="1800" b="0" dirty="0" err="1"/>
              <a:t>hex</a:t>
            </a:r>
            <a:r>
              <a:rPr lang="ru-RU" sz="1800" b="0" dirty="0"/>
              <a:t> файл и </a:t>
            </a:r>
            <a:r>
              <a:rPr lang="ru-RU" sz="1800" b="0" dirty="0" err="1"/>
              <a:t>демонстрира</a:t>
            </a:r>
            <a:r>
              <a:rPr lang="ru-RU" sz="1800" b="0" dirty="0"/>
              <a:t> </a:t>
            </a:r>
            <a:r>
              <a:rPr lang="ru-RU" sz="1800" b="0" dirty="0" err="1"/>
              <a:t>устройството</a:t>
            </a:r>
            <a:r>
              <a:rPr lang="ru-RU" sz="1800" b="0" dirty="0"/>
              <a:t> в </a:t>
            </a:r>
            <a:r>
              <a:rPr lang="ru-RU" sz="1800" b="0" dirty="0" err="1"/>
              <a:t>пълната</a:t>
            </a:r>
            <a:r>
              <a:rPr lang="ru-RU" sz="1800" b="0" dirty="0"/>
              <a:t> </a:t>
            </a:r>
            <a:r>
              <a:rPr lang="ru-RU" sz="1800" b="0" dirty="0" err="1"/>
              <a:t>му</a:t>
            </a:r>
            <a:r>
              <a:rPr lang="ru-RU" sz="1800" b="0" dirty="0"/>
              <a:t> </a:t>
            </a:r>
            <a:r>
              <a:rPr lang="ru-RU" sz="1800" b="0" dirty="0" err="1"/>
              <a:t>функционалност</a:t>
            </a:r>
            <a:r>
              <a:rPr lang="ru-RU" sz="1800" b="0" dirty="0"/>
              <a:t> (15т)</a:t>
            </a:r>
          </a:p>
          <a:p>
            <a:pPr marL="570600" lvl="1" indent="-228600">
              <a:buFont typeface="+mj-lt"/>
              <a:buAutoNum type="arabicPeriod"/>
            </a:pPr>
            <a:r>
              <a:rPr lang="ru-RU" sz="1800" b="0" dirty="0"/>
              <a:t>Демонстрация на </a:t>
            </a:r>
            <a:r>
              <a:rPr lang="ru-RU" sz="1800" b="0" dirty="0" err="1"/>
              <a:t>реализирана</a:t>
            </a:r>
            <a:r>
              <a:rPr lang="ru-RU" sz="1800" b="0" dirty="0"/>
              <a:t> </a:t>
            </a:r>
            <a:r>
              <a:rPr lang="ru-RU" sz="1800" b="0" dirty="0" err="1"/>
              <a:t>допълнителна</a:t>
            </a:r>
            <a:r>
              <a:rPr lang="ru-RU" sz="1800" b="0" dirty="0"/>
              <a:t> </a:t>
            </a:r>
            <a:r>
              <a:rPr lang="ru-RU" sz="1800" b="0" dirty="0" err="1"/>
              <a:t>функционалност</a:t>
            </a:r>
            <a:r>
              <a:rPr lang="ru-RU" sz="1800" b="0" dirty="0"/>
              <a:t> – (5т)</a:t>
            </a:r>
            <a:r>
              <a:rPr lang="ru-RU" b="0" dirty="0"/>
              <a:t/>
            </a:r>
            <a:br>
              <a:rPr lang="ru-RU" b="0" dirty="0"/>
            </a:br>
            <a:endParaRPr lang="ru-RU" b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Критерии за </a:t>
            </a:r>
            <a:r>
              <a:rPr lang="bg-BG" dirty="0" smtClean="0"/>
              <a:t>оценяване </a:t>
            </a:r>
            <a:r>
              <a:rPr lang="en-US" dirty="0" smtClean="0"/>
              <a:t>I</a:t>
            </a:r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6282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0038" y="523702"/>
            <a:ext cx="11483975" cy="5726603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800" dirty="0"/>
              <a:t>На основа на </a:t>
            </a:r>
            <a:r>
              <a:rPr lang="ru-RU" sz="1800" dirty="0" err="1"/>
              <a:t>свършена</a:t>
            </a:r>
            <a:r>
              <a:rPr lang="ru-RU" sz="1800" dirty="0"/>
              <a:t> </a:t>
            </a:r>
            <a:r>
              <a:rPr lang="ru-RU" sz="1800" dirty="0" err="1"/>
              <a:t>индивидуална</a:t>
            </a:r>
            <a:r>
              <a:rPr lang="ru-RU" sz="1800" dirty="0"/>
              <a:t> работа:</a:t>
            </a:r>
          </a:p>
          <a:p>
            <a:pPr marL="570600" lvl="1" indent="-228600">
              <a:buFont typeface="+mj-lt"/>
              <a:buAutoNum type="arabicPeriod"/>
            </a:pPr>
            <a:r>
              <a:rPr lang="ru-RU" sz="2000" b="0" dirty="0"/>
              <a:t>Успешно </a:t>
            </a:r>
            <a:r>
              <a:rPr lang="ru-RU" sz="2000" b="0" dirty="0" err="1"/>
              <a:t>реализирани</a:t>
            </a:r>
            <a:r>
              <a:rPr lang="ru-RU" sz="2000" b="0" dirty="0"/>
              <a:t> </a:t>
            </a:r>
            <a:r>
              <a:rPr lang="ru-RU" sz="2000" b="0" dirty="0" err="1"/>
              <a:t>допълнителни</a:t>
            </a:r>
            <a:r>
              <a:rPr lang="ru-RU" sz="2000" b="0" dirty="0"/>
              <a:t> </a:t>
            </a:r>
            <a:r>
              <a:rPr lang="ru-RU" sz="2000" b="0" dirty="0" err="1"/>
              <a:t>домашни</a:t>
            </a:r>
            <a:r>
              <a:rPr lang="ru-RU" sz="2000" b="0" dirty="0"/>
              <a:t> задачи от упражнения – (6т)</a:t>
            </a:r>
          </a:p>
          <a:p>
            <a:pPr marL="570600" lvl="1" indent="-228600">
              <a:buFont typeface="+mj-lt"/>
              <a:buAutoNum type="arabicPeriod"/>
            </a:pPr>
            <a:r>
              <a:rPr lang="ru-RU" sz="2000" b="0" dirty="0"/>
              <a:t>Документация на </a:t>
            </a:r>
            <a:r>
              <a:rPr lang="ru-RU" sz="2000" b="0" dirty="0" err="1"/>
              <a:t>софтуерени</a:t>
            </a:r>
            <a:r>
              <a:rPr lang="ru-RU" sz="2000" b="0" dirty="0"/>
              <a:t> и </a:t>
            </a:r>
            <a:r>
              <a:rPr lang="ru-RU" sz="2000" b="0" dirty="0" err="1"/>
              <a:t>хардуерни</a:t>
            </a:r>
            <a:r>
              <a:rPr lang="ru-RU" sz="2000" b="0" dirty="0"/>
              <a:t> модули:</a:t>
            </a:r>
          </a:p>
          <a:p>
            <a:pPr marL="970200" lvl="2" indent="-228600">
              <a:buFont typeface="+mj-lt"/>
              <a:buAutoNum type="alphaLcParenR"/>
            </a:pPr>
            <a:r>
              <a:rPr lang="ru-RU" sz="1100" b="0" dirty="0"/>
              <a:t>За </a:t>
            </a:r>
            <a:r>
              <a:rPr lang="ru-RU" sz="1100" b="0" dirty="0" err="1"/>
              <a:t>софтуера</a:t>
            </a:r>
            <a:endParaRPr lang="ru-RU" sz="1100" b="0" dirty="0"/>
          </a:p>
          <a:p>
            <a:pPr marL="1373400" lvl="3" indent="-228600">
              <a:buFont typeface="+mj-lt"/>
              <a:buAutoNum type="alphaLcParenR"/>
            </a:pPr>
            <a:r>
              <a:rPr lang="ru-RU" sz="1400" b="0" dirty="0" err="1"/>
              <a:t>Детайлен</a:t>
            </a:r>
            <a:r>
              <a:rPr lang="ru-RU" sz="1400" b="0" dirty="0"/>
              <a:t> дизайн – спецификация на </a:t>
            </a:r>
            <a:r>
              <a:rPr lang="ru-RU" sz="1400" b="0" dirty="0" err="1"/>
              <a:t>модула</a:t>
            </a:r>
            <a:r>
              <a:rPr lang="ru-RU" sz="1400" b="0" dirty="0"/>
              <a:t>, </a:t>
            </a:r>
            <a:r>
              <a:rPr lang="ru-RU" sz="1400" b="0" dirty="0" err="1"/>
              <a:t>алгоритми</a:t>
            </a:r>
            <a:r>
              <a:rPr lang="ru-RU" sz="1400" b="0" dirty="0"/>
              <a:t>, описание на </a:t>
            </a:r>
            <a:r>
              <a:rPr lang="ru-RU" sz="1400" b="0" dirty="0" err="1"/>
              <a:t>интерфейси</a:t>
            </a:r>
            <a:r>
              <a:rPr lang="ru-RU" sz="1400" b="0" dirty="0"/>
              <a:t> (10т)</a:t>
            </a:r>
          </a:p>
          <a:p>
            <a:pPr marL="1373400" lvl="3" indent="-228600">
              <a:buFont typeface="+mj-lt"/>
              <a:buAutoNum type="alphaLcParenR"/>
            </a:pPr>
            <a:r>
              <a:rPr lang="ru-RU" sz="1400" b="0" dirty="0" err="1"/>
              <a:t>Сорс</a:t>
            </a:r>
            <a:r>
              <a:rPr lang="ru-RU" sz="1400" b="0" dirty="0"/>
              <a:t> код – </a:t>
            </a:r>
            <a:r>
              <a:rPr lang="ru-RU" sz="1400" b="0" dirty="0" err="1"/>
              <a:t>оценява</a:t>
            </a:r>
            <a:r>
              <a:rPr lang="ru-RU" sz="1400" b="0" dirty="0"/>
              <a:t> се за </a:t>
            </a:r>
            <a:r>
              <a:rPr lang="ru-RU" sz="1400" b="0" dirty="0" err="1"/>
              <a:t>структурираност</a:t>
            </a:r>
            <a:r>
              <a:rPr lang="ru-RU" sz="1400" b="0" dirty="0"/>
              <a:t>, тест </a:t>
            </a:r>
            <a:r>
              <a:rPr lang="ru-RU" sz="1400" b="0" dirty="0" err="1"/>
              <a:t>пригодност</a:t>
            </a:r>
            <a:r>
              <a:rPr lang="ru-RU" sz="1400" b="0" dirty="0"/>
              <a:t>, </a:t>
            </a:r>
            <a:r>
              <a:rPr lang="ru-RU" sz="1400" b="0" dirty="0" err="1"/>
              <a:t>четимост</a:t>
            </a:r>
            <a:r>
              <a:rPr lang="ru-RU" sz="1400" b="0" dirty="0"/>
              <a:t> и </a:t>
            </a:r>
            <a:r>
              <a:rPr lang="ru-RU" sz="1400" b="0" dirty="0" err="1"/>
              <a:t>ефективност</a:t>
            </a:r>
            <a:r>
              <a:rPr lang="ru-RU" sz="1400" b="0" dirty="0"/>
              <a:t> (10т)</a:t>
            </a:r>
          </a:p>
          <a:p>
            <a:pPr marL="1373400" lvl="3" indent="-228600">
              <a:buFont typeface="+mj-lt"/>
              <a:buAutoNum type="alphaLcParenR"/>
            </a:pPr>
            <a:r>
              <a:rPr lang="ru-RU" sz="1400" b="0" dirty="0" err="1"/>
              <a:t>Тестова</a:t>
            </a:r>
            <a:r>
              <a:rPr lang="ru-RU" sz="1400" b="0" dirty="0"/>
              <a:t> спецификация и </a:t>
            </a:r>
            <a:r>
              <a:rPr lang="ru-RU" sz="1400" b="0" dirty="0" err="1"/>
              <a:t>тестови</a:t>
            </a:r>
            <a:r>
              <a:rPr lang="ru-RU" sz="1400" b="0" dirty="0"/>
              <a:t> </a:t>
            </a:r>
            <a:r>
              <a:rPr lang="ru-RU" sz="1400" b="0" dirty="0" err="1"/>
              <a:t>резултати</a:t>
            </a:r>
            <a:r>
              <a:rPr lang="ru-RU" sz="1400" b="0" dirty="0"/>
              <a:t> (6т)</a:t>
            </a:r>
          </a:p>
          <a:p>
            <a:pPr marL="970200" lvl="2" indent="-228600">
              <a:buFont typeface="+mj-lt"/>
              <a:buAutoNum type="alphaLcParenR"/>
            </a:pPr>
            <a:r>
              <a:rPr lang="ru-RU" sz="1100" b="0" dirty="0"/>
              <a:t>За </a:t>
            </a:r>
            <a:r>
              <a:rPr lang="ru-RU" sz="1100" b="0" dirty="0" err="1"/>
              <a:t>Хардуер</a:t>
            </a:r>
            <a:endParaRPr lang="ru-RU" sz="1100" b="0" dirty="0"/>
          </a:p>
          <a:p>
            <a:pPr marL="1373400" lvl="3" indent="-228600">
              <a:buFont typeface="+mj-lt"/>
              <a:buAutoNum type="alphaLcParenR"/>
            </a:pPr>
            <a:r>
              <a:rPr lang="ru-RU" sz="1400" dirty="0" err="1"/>
              <a:t>Принципна</a:t>
            </a:r>
            <a:r>
              <a:rPr lang="ru-RU" sz="1400" dirty="0"/>
              <a:t> схема</a:t>
            </a:r>
          </a:p>
          <a:p>
            <a:pPr marL="1373400" lvl="3" indent="-228600">
              <a:buFont typeface="+mj-lt"/>
              <a:buAutoNum type="alphaLcParenR"/>
            </a:pPr>
            <a:r>
              <a:rPr lang="bg-BG" sz="1400" dirty="0"/>
              <a:t>Избор на компоненти и елементи</a:t>
            </a:r>
          </a:p>
          <a:p>
            <a:pPr marL="1373400" lvl="3" indent="-228600">
              <a:buFont typeface="+mj-lt"/>
              <a:buAutoNum type="alphaLcParenR"/>
            </a:pPr>
            <a:r>
              <a:rPr lang="bg-BG" sz="1400" dirty="0"/>
              <a:t>Създаване на библиотека с използваните елементи</a:t>
            </a:r>
            <a:endParaRPr lang="ru-RU" sz="1100" b="0" dirty="0"/>
          </a:p>
          <a:p>
            <a:pPr marL="684900" lvl="1" indent="-342900">
              <a:buFont typeface="+mj-lt"/>
              <a:buAutoNum type="arabicPeriod"/>
            </a:pPr>
            <a:r>
              <a:rPr lang="ru-RU" sz="1800" b="0" dirty="0" err="1" smtClean="0"/>
              <a:t>Индивидуална</a:t>
            </a:r>
            <a:r>
              <a:rPr lang="ru-RU" sz="1800" b="0" dirty="0" smtClean="0"/>
              <a:t> защита </a:t>
            </a:r>
            <a:r>
              <a:rPr lang="ru-RU" sz="1800" b="0" dirty="0"/>
              <a:t>на </a:t>
            </a:r>
            <a:r>
              <a:rPr lang="ru-RU" sz="1800" b="0" dirty="0" err="1"/>
              <a:t>изходна</a:t>
            </a:r>
            <a:r>
              <a:rPr lang="ru-RU" sz="1800" b="0" dirty="0"/>
              <a:t> документация и </a:t>
            </a:r>
            <a:r>
              <a:rPr lang="ru-RU" sz="1800" b="0" dirty="0" err="1"/>
              <a:t>изпълним</a:t>
            </a:r>
            <a:r>
              <a:rPr lang="ru-RU" sz="1800" b="0" dirty="0"/>
              <a:t> код </a:t>
            </a:r>
            <a:r>
              <a:rPr lang="en-US" sz="1800" b="0" dirty="0" smtClean="0"/>
              <a:t>(30%.)</a:t>
            </a:r>
            <a:endParaRPr lang="ru-RU" sz="1800" b="0" dirty="0" smtClean="0"/>
          </a:p>
          <a:p>
            <a:pPr marL="1084500" lvl="2" indent="-342900">
              <a:buFont typeface="+mj-lt"/>
              <a:buAutoNum type="arabicPeriod"/>
            </a:pPr>
            <a:r>
              <a:rPr lang="ru-RU" sz="1050" dirty="0" err="1" smtClean="0"/>
              <a:t>Всеки</a:t>
            </a:r>
            <a:r>
              <a:rPr lang="ru-RU" sz="1050" dirty="0" smtClean="0"/>
              <a:t> от </a:t>
            </a:r>
            <a:r>
              <a:rPr lang="ru-RU" sz="1050" dirty="0" err="1" smtClean="0"/>
              <a:t>екипа</a:t>
            </a:r>
            <a:r>
              <a:rPr lang="ru-RU" sz="1050" dirty="0" smtClean="0"/>
              <a:t> </a:t>
            </a:r>
            <a:r>
              <a:rPr lang="ru-RU" sz="1050" dirty="0" err="1" smtClean="0"/>
              <a:t>защитава</a:t>
            </a:r>
            <a:r>
              <a:rPr lang="ru-RU" sz="1050" dirty="0" smtClean="0"/>
              <a:t> и </a:t>
            </a:r>
            <a:r>
              <a:rPr lang="ru-RU" sz="1050" dirty="0" err="1" smtClean="0"/>
              <a:t>презентира</a:t>
            </a:r>
            <a:r>
              <a:rPr lang="ru-RU" sz="1050" dirty="0" smtClean="0"/>
              <a:t> </a:t>
            </a:r>
            <a:r>
              <a:rPr lang="ru-RU" sz="1050" dirty="0" err="1" smtClean="0"/>
              <a:t>модула</a:t>
            </a:r>
            <a:r>
              <a:rPr lang="ru-RU" sz="1050" dirty="0" smtClean="0"/>
              <a:t> за </a:t>
            </a:r>
            <a:r>
              <a:rPr lang="ru-RU" sz="1050" dirty="0" err="1" smtClean="0"/>
              <a:t>който</a:t>
            </a:r>
            <a:r>
              <a:rPr lang="ru-RU" sz="1050" dirty="0" smtClean="0"/>
              <a:t> е отговорен</a:t>
            </a:r>
            <a:r>
              <a:rPr lang="bg-BG" sz="1050" dirty="0" smtClean="0"/>
              <a:t>.</a:t>
            </a:r>
            <a:endParaRPr lang="en-US" sz="1050" dirty="0" smtClean="0"/>
          </a:p>
          <a:p>
            <a:pPr marL="1084500" lvl="2" indent="-342900">
              <a:buFont typeface="+mj-lt"/>
              <a:buAutoNum type="arabicPeriod"/>
            </a:pPr>
            <a:endParaRPr lang="ru-RU" sz="1400" b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Критерии за оценяване</a:t>
            </a:r>
            <a:r>
              <a:rPr lang="en-US" dirty="0"/>
              <a:t> </a:t>
            </a:r>
            <a:r>
              <a:rPr lang="en-US" dirty="0" smtClean="0"/>
              <a:t>II</a:t>
            </a:r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7069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dirty="0" err="1"/>
              <a:t>Тoчният</a:t>
            </a:r>
            <a:r>
              <a:rPr lang="ru-RU" dirty="0"/>
              <a:t> </a:t>
            </a:r>
            <a:r>
              <a:rPr lang="ru-RU" dirty="0" err="1"/>
              <a:t>ден</a:t>
            </a:r>
            <a:r>
              <a:rPr lang="ru-RU" dirty="0"/>
              <a:t> и час </a:t>
            </a:r>
            <a:r>
              <a:rPr lang="ru-RU" dirty="0" err="1"/>
              <a:t>следва</a:t>
            </a:r>
            <a:r>
              <a:rPr lang="ru-RU" dirty="0"/>
              <a:t> да се уточнят до </a:t>
            </a:r>
            <a:r>
              <a:rPr lang="en-US" dirty="0"/>
              <a:t>10.10.2025 </a:t>
            </a:r>
            <a:r>
              <a:rPr lang="bg-BG" dirty="0"/>
              <a:t>г.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b="0" dirty="0" err="1"/>
              <a:t>Всички</a:t>
            </a:r>
            <a:r>
              <a:rPr lang="ru-RU" b="0" dirty="0"/>
              <a:t> </a:t>
            </a:r>
            <a:r>
              <a:rPr lang="ru-RU" b="0" dirty="0" err="1"/>
              <a:t>документи</a:t>
            </a:r>
            <a:r>
              <a:rPr lang="ru-RU" b="0" dirty="0"/>
              <a:t> </a:t>
            </a:r>
            <a:r>
              <a:rPr lang="ru-RU" b="0" dirty="0" err="1"/>
              <a:t>трябва</a:t>
            </a:r>
            <a:r>
              <a:rPr lang="ru-RU" b="0" dirty="0"/>
              <a:t> да </a:t>
            </a:r>
            <a:r>
              <a:rPr lang="ru-RU" b="0" dirty="0" err="1"/>
              <a:t>са</a:t>
            </a:r>
            <a:r>
              <a:rPr lang="ru-RU" b="0" dirty="0"/>
              <a:t> в </a:t>
            </a:r>
            <a:r>
              <a:rPr lang="ru-RU" b="0" dirty="0" err="1"/>
              <a:t>pdf</a:t>
            </a:r>
            <a:r>
              <a:rPr lang="ru-RU" b="0" dirty="0"/>
              <a:t> формат, </a:t>
            </a:r>
            <a:r>
              <a:rPr lang="ru-RU" b="0" dirty="0" err="1"/>
              <a:t>архивирани</a:t>
            </a:r>
            <a:r>
              <a:rPr lang="ru-RU" b="0" dirty="0"/>
              <a:t> в </a:t>
            </a:r>
            <a:r>
              <a:rPr lang="ru-RU" b="0" dirty="0" err="1"/>
              <a:t>zip</a:t>
            </a:r>
            <a:r>
              <a:rPr lang="en-US" b="0" dirty="0"/>
              <a:t>/7zip</a:t>
            </a:r>
            <a:r>
              <a:rPr lang="ru-RU" b="0" dirty="0"/>
              <a:t> файл </a:t>
            </a:r>
            <a:r>
              <a:rPr lang="ru-RU" b="0" dirty="0" err="1"/>
              <a:t>със</a:t>
            </a:r>
            <a:r>
              <a:rPr lang="ru-RU" b="0" dirty="0"/>
              <a:t> </a:t>
            </a:r>
            <a:r>
              <a:rPr lang="ru-RU" b="0" dirty="0" err="1"/>
              <a:t>следното</a:t>
            </a:r>
            <a:r>
              <a:rPr lang="en-US" b="0" dirty="0"/>
              <a:t> </a:t>
            </a:r>
            <a:r>
              <a:rPr lang="bg-BG" b="0" dirty="0"/>
              <a:t>име:</a:t>
            </a:r>
          </a:p>
          <a:p>
            <a:pPr marL="684900" lvl="1" indent="-342900">
              <a:buFont typeface="+mj-lt"/>
              <a:buAutoNum type="alphaLcParenR"/>
            </a:pPr>
            <a:r>
              <a:rPr lang="ru-RU" b="0" dirty="0"/>
              <a:t>За общи </a:t>
            </a:r>
            <a:r>
              <a:rPr lang="ru-RU" b="0" dirty="0" err="1"/>
              <a:t>документи</a:t>
            </a:r>
            <a:r>
              <a:rPr lang="ru-RU" b="0" dirty="0"/>
              <a:t> TU_АЕ_EMBEDSYS_PRJ1_GRNo[номер на </a:t>
            </a:r>
            <a:r>
              <a:rPr lang="ru-RU" b="0" dirty="0" err="1"/>
              <a:t>група</a:t>
            </a:r>
            <a:r>
              <a:rPr lang="ru-RU" b="0" dirty="0"/>
              <a:t>]</a:t>
            </a:r>
          </a:p>
          <a:p>
            <a:pPr marL="684900" lvl="1" indent="-342900">
              <a:buFont typeface="+mj-lt"/>
              <a:buAutoNum type="alphaLcParenR"/>
            </a:pPr>
            <a:r>
              <a:rPr lang="ru-RU" b="0" dirty="0"/>
              <a:t>За </a:t>
            </a:r>
            <a:r>
              <a:rPr lang="ru-RU" b="0" dirty="0" err="1"/>
              <a:t>индивидуални</a:t>
            </a:r>
            <a:r>
              <a:rPr lang="ru-RU" b="0" dirty="0"/>
              <a:t> </a:t>
            </a:r>
            <a:r>
              <a:rPr lang="ru-RU" b="0" dirty="0" err="1"/>
              <a:t>документи</a:t>
            </a:r>
            <a:r>
              <a:rPr lang="ru-RU" b="0" dirty="0"/>
              <a:t> TU_АЕ_EMBEDSYS_PRJ1_GRNo[номер на</a:t>
            </a:r>
            <a:r>
              <a:rPr lang="bg-BG" b="0" dirty="0"/>
              <a:t>група]_</a:t>
            </a:r>
            <a:r>
              <a:rPr lang="en-ZW" b="0" dirty="0" err="1"/>
              <a:t>FNo</a:t>
            </a:r>
            <a:r>
              <a:rPr lang="en-ZW" b="0" dirty="0"/>
              <a:t>[</a:t>
            </a:r>
            <a:r>
              <a:rPr lang="bg-BG" b="0" dirty="0"/>
              <a:t>факултетен номер]</a:t>
            </a:r>
          </a:p>
          <a:p>
            <a:pPr marL="684900" lvl="1" indent="-342900">
              <a:buFont typeface="+mj-lt"/>
              <a:buAutoNum type="alphaLcParenR"/>
            </a:pPr>
            <a:r>
              <a:rPr lang="bg-BG" b="0" dirty="0"/>
              <a:t>Създаване на </a:t>
            </a:r>
            <a:r>
              <a:rPr lang="en-US" b="0" dirty="0"/>
              <a:t>Tag </a:t>
            </a:r>
            <a:r>
              <a:rPr lang="bg-BG" b="0" dirty="0"/>
              <a:t>в </a:t>
            </a:r>
            <a:r>
              <a:rPr lang="en-US" b="0" dirty="0"/>
              <a:t>GitHub </a:t>
            </a:r>
            <a:r>
              <a:rPr lang="bg-BG" b="0" dirty="0" err="1"/>
              <a:t>репозитори</a:t>
            </a:r>
            <a:endParaRPr lang="bg-BG" b="0" dirty="0"/>
          </a:p>
          <a:p>
            <a:pPr marL="684900" lvl="1" indent="-342900">
              <a:buFont typeface="+mj-lt"/>
              <a:buAutoNum type="alphaLcParenR"/>
            </a:pPr>
            <a:r>
              <a:rPr lang="bg-BG" b="0" dirty="0"/>
              <a:t>Документация под формата на </a:t>
            </a:r>
            <a:r>
              <a:rPr lang="en-US" b="0" dirty="0"/>
              <a:t>wiki </a:t>
            </a:r>
            <a:r>
              <a:rPr lang="bg-BG" b="0" dirty="0"/>
              <a:t>страница в </a:t>
            </a:r>
            <a:r>
              <a:rPr lang="en-US" b="0" dirty="0" smtClean="0"/>
              <a:t>GitHub</a:t>
            </a:r>
            <a:r>
              <a:rPr lang="bg-BG" b="0" dirty="0" smtClean="0"/>
              <a:t> - </a:t>
            </a:r>
            <a:r>
              <a:rPr lang="bg-BG" b="0" dirty="0" smtClean="0"/>
              <a:t>бонус</a:t>
            </a:r>
            <a:endParaRPr lang="bg-BG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bg-BG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0" dirty="0"/>
              <a:t>График на предаване</a:t>
            </a:r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900" noProof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10</a:t>
            </a:fld>
            <a:endParaRPr lang="en-US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316870"/>
              </p:ext>
            </p:extLst>
          </p:nvPr>
        </p:nvGraphicFramePr>
        <p:xfrm>
          <a:off x="1267229" y="3279987"/>
          <a:ext cx="8127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368836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286051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27804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b="0" dirty="0"/>
                        <a:t>Работен</a:t>
                      </a:r>
                      <a:r>
                        <a:rPr lang="en-US" b="0" dirty="0"/>
                        <a:t> </a:t>
                      </a:r>
                      <a:r>
                        <a:rPr lang="bg-BG" b="0" dirty="0"/>
                        <a:t>Продукт</a:t>
                      </a:r>
                      <a:r>
                        <a:rPr lang="en-US" b="0" dirty="0"/>
                        <a:t> 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/>
                        <a:t>Седмица от семестъра 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/>
                        <a:t>Намаление при</a:t>
                      </a:r>
                      <a:r>
                        <a:rPr lang="en-US" b="0" dirty="0"/>
                        <a:t> </a:t>
                      </a:r>
                      <a:r>
                        <a:rPr lang="bg-BG" b="0" dirty="0"/>
                        <a:t>закъснение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79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x.X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/>
                        <a:t>Трета седмица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20</a:t>
                      </a:r>
                      <a:r>
                        <a:rPr lang="en-US" dirty="0" smtClean="0"/>
                        <a:t>%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198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x.X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/>
                        <a:t>Четвърта седмица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20</a:t>
                      </a:r>
                      <a:r>
                        <a:rPr lang="en-US" dirty="0" smtClean="0"/>
                        <a:t>%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304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x.X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/>
                        <a:t>Пета седмица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20</a:t>
                      </a:r>
                      <a:r>
                        <a:rPr lang="en-US" dirty="0" smtClean="0"/>
                        <a:t>%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928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x.X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/>
                        <a:t>Седма седмица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20</a:t>
                      </a:r>
                      <a:r>
                        <a:rPr lang="en-US" dirty="0" smtClean="0"/>
                        <a:t>%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274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x.X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/>
                        <a:t>Десета седмица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20</a:t>
                      </a:r>
                      <a:r>
                        <a:rPr lang="en-US" dirty="0" smtClean="0"/>
                        <a:t>%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71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x.X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/>
                        <a:t>13 седмица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20</a:t>
                      </a:r>
                      <a:r>
                        <a:rPr lang="en-US" dirty="0" smtClean="0"/>
                        <a:t>%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19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x.X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0" dirty="0"/>
                        <a:t>14 седмица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20</a:t>
                      </a:r>
                      <a:r>
                        <a:rPr lang="en-US" dirty="0" smtClean="0"/>
                        <a:t>%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478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605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0" dirty="0"/>
              <a:t>Скала за оценяване</a:t>
            </a:r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900" noProof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11</a:t>
            </a:fld>
            <a:endParaRPr lang="en-US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839266"/>
              </p:ext>
            </p:extLst>
          </p:nvPr>
        </p:nvGraphicFramePr>
        <p:xfrm>
          <a:off x="1247401" y="1553239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324446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05869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  <a:r>
                        <a:rPr lang="bg-BG" dirty="0" err="1"/>
                        <a:t>чки</a:t>
                      </a:r>
                      <a:r>
                        <a:rPr lang="bg-BG" baseline="0" dirty="0"/>
                        <a:t> 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Оценка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448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&gt;80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927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552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27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94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&lt;45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551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28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ru-RU" b="0" dirty="0"/>
              <a:t> </a:t>
            </a:r>
            <a:r>
              <a:rPr lang="ru-RU" b="0" dirty="0" err="1"/>
              <a:t>Семинарни</a:t>
            </a:r>
            <a:r>
              <a:rPr lang="ru-RU" b="0" dirty="0"/>
              <a:t> упражнения </a:t>
            </a:r>
            <a:r>
              <a:rPr lang="ru-RU" b="0" dirty="0" smtClean="0"/>
              <a:t>– 3 [</a:t>
            </a:r>
            <a:r>
              <a:rPr lang="ru-RU" b="0" dirty="0" err="1" smtClean="0"/>
              <a:t>според</a:t>
            </a:r>
            <a:r>
              <a:rPr lang="ru-RU" b="0" dirty="0" smtClean="0"/>
              <a:t> </a:t>
            </a:r>
            <a:r>
              <a:rPr lang="ru-RU" b="0" dirty="0" err="1" smtClean="0"/>
              <a:t>програмата</a:t>
            </a:r>
            <a:r>
              <a:rPr lang="ru-RU" b="0" dirty="0" smtClean="0"/>
              <a:t>]</a:t>
            </a:r>
          </a:p>
          <a:p>
            <a:r>
              <a:rPr lang="ru-RU" b="0" dirty="0" smtClean="0"/>
              <a:t> Локация</a:t>
            </a:r>
            <a:r>
              <a:rPr lang="en-US" b="0" dirty="0" smtClean="0"/>
              <a:t> – </a:t>
            </a:r>
            <a:r>
              <a:rPr lang="bg-BG" b="0" dirty="0" smtClean="0"/>
              <a:t>Технически университет София</a:t>
            </a:r>
            <a:endParaRPr lang="ru-RU" b="0" dirty="0" smtClean="0"/>
          </a:p>
          <a:p>
            <a:r>
              <a:rPr lang="ru-RU" b="0" dirty="0" smtClean="0"/>
              <a:t> </a:t>
            </a:r>
            <a:r>
              <a:rPr lang="ru-RU" b="0" dirty="0" err="1"/>
              <a:t>Упражнението</a:t>
            </a:r>
            <a:r>
              <a:rPr lang="ru-RU" b="0" dirty="0"/>
              <a:t> </a:t>
            </a:r>
            <a:r>
              <a:rPr lang="ru-RU" b="0" dirty="0" err="1"/>
              <a:t>ще</a:t>
            </a:r>
            <a:r>
              <a:rPr lang="ru-RU" b="0" dirty="0"/>
              <a:t> се </a:t>
            </a:r>
            <a:r>
              <a:rPr lang="ru-RU" b="0" dirty="0" err="1"/>
              <a:t>състои</a:t>
            </a:r>
            <a:r>
              <a:rPr lang="ru-RU" b="0" dirty="0"/>
              <a:t> от </a:t>
            </a:r>
            <a:r>
              <a:rPr lang="ru-RU" b="0" dirty="0" err="1"/>
              <a:t>уводна</a:t>
            </a:r>
            <a:r>
              <a:rPr lang="ru-RU" b="0" dirty="0"/>
              <a:t> част, задача(и) за </a:t>
            </a:r>
            <a:r>
              <a:rPr lang="ru-RU" b="0" dirty="0" err="1"/>
              <a:t>решаване</a:t>
            </a:r>
            <a:r>
              <a:rPr lang="ru-RU" b="0" dirty="0"/>
              <a:t> по</a:t>
            </a:r>
          </a:p>
          <a:p>
            <a:r>
              <a:rPr lang="ru-RU" b="0" dirty="0" err="1"/>
              <a:t>време</a:t>
            </a:r>
            <a:r>
              <a:rPr lang="ru-RU" b="0" dirty="0"/>
              <a:t> на </a:t>
            </a:r>
            <a:r>
              <a:rPr lang="ru-RU" b="0" dirty="0" err="1"/>
              <a:t>самото</a:t>
            </a:r>
            <a:r>
              <a:rPr lang="ru-RU" b="0" dirty="0"/>
              <a:t> упражнение и </a:t>
            </a:r>
            <a:r>
              <a:rPr lang="ru-RU" b="0" dirty="0" err="1"/>
              <a:t>допълнителна</a:t>
            </a:r>
            <a:r>
              <a:rPr lang="ru-RU" b="0" dirty="0"/>
              <a:t> задача за </a:t>
            </a:r>
            <a:r>
              <a:rPr lang="ru-RU" b="0" dirty="0" err="1" smtClean="0"/>
              <a:t>домашна</a:t>
            </a:r>
            <a:r>
              <a:rPr lang="ru-RU" b="0" dirty="0" smtClean="0"/>
              <a:t> </a:t>
            </a:r>
            <a:r>
              <a:rPr lang="bg-BG" b="0" dirty="0" smtClean="0"/>
              <a:t>(</a:t>
            </a:r>
            <a:r>
              <a:rPr lang="bg-BG" b="0" dirty="0"/>
              <a:t>индивидуална) работа</a:t>
            </a:r>
          </a:p>
          <a:p>
            <a:r>
              <a:rPr lang="ru-RU" b="0" dirty="0"/>
              <a:t> </a:t>
            </a:r>
            <a:r>
              <a:rPr lang="ru-RU" b="0" dirty="0" err="1"/>
              <a:t>Консултации</a:t>
            </a:r>
            <a:r>
              <a:rPr lang="ru-RU" b="0" dirty="0"/>
              <a:t> – </a:t>
            </a:r>
            <a:r>
              <a:rPr lang="ru-RU" b="0" dirty="0" err="1"/>
              <a:t>веднъж</a:t>
            </a:r>
            <a:r>
              <a:rPr lang="ru-RU" b="0" dirty="0"/>
              <a:t> на две </a:t>
            </a:r>
            <a:r>
              <a:rPr lang="ru-RU" b="0" dirty="0" err="1"/>
              <a:t>седмици</a:t>
            </a:r>
            <a:r>
              <a:rPr lang="ru-RU" b="0" dirty="0"/>
              <a:t> в периода от </a:t>
            </a:r>
            <a:r>
              <a:rPr lang="ru-RU" b="0" dirty="0" smtClean="0"/>
              <a:t>х-та </a:t>
            </a:r>
            <a:r>
              <a:rPr lang="ru-RU" b="0" dirty="0"/>
              <a:t>до </a:t>
            </a:r>
            <a:r>
              <a:rPr lang="ru-RU" b="0" dirty="0" smtClean="0"/>
              <a:t>х-та </a:t>
            </a:r>
            <a:r>
              <a:rPr lang="ru-RU" b="0" dirty="0"/>
              <a:t>седмица на </a:t>
            </a:r>
            <a:r>
              <a:rPr lang="ru-RU" b="0" dirty="0" err="1" smtClean="0"/>
              <a:t>семестъра</a:t>
            </a:r>
            <a:endParaRPr lang="ru-RU" b="0" dirty="0" smtClean="0"/>
          </a:p>
          <a:p>
            <a:r>
              <a:rPr lang="ru-RU" b="0" dirty="0" smtClean="0"/>
              <a:t>(* </a:t>
            </a:r>
            <a:r>
              <a:rPr lang="ru-RU" b="0" dirty="0" err="1" smtClean="0"/>
              <a:t>точните</a:t>
            </a:r>
            <a:r>
              <a:rPr lang="ru-RU" b="0" dirty="0" smtClean="0"/>
              <a:t> </a:t>
            </a:r>
            <a:r>
              <a:rPr lang="ru-RU" b="0" dirty="0" err="1" smtClean="0"/>
              <a:t>дати</a:t>
            </a:r>
            <a:r>
              <a:rPr lang="ru-RU" b="0" dirty="0" smtClean="0"/>
              <a:t> и </a:t>
            </a:r>
            <a:r>
              <a:rPr lang="ru-RU" b="0" dirty="0" err="1" smtClean="0"/>
              <a:t>време</a:t>
            </a:r>
            <a:r>
              <a:rPr lang="ru-RU" b="0" dirty="0" smtClean="0"/>
              <a:t> </a:t>
            </a:r>
            <a:r>
              <a:rPr lang="ru-RU" b="0" dirty="0" err="1" smtClean="0"/>
              <a:t>следва</a:t>
            </a:r>
            <a:r>
              <a:rPr lang="ru-RU" b="0" dirty="0" smtClean="0"/>
              <a:t> да се уточнят до втора седмица от </a:t>
            </a:r>
            <a:r>
              <a:rPr lang="ru-RU" b="0" dirty="0" err="1" smtClean="0"/>
              <a:t>започване</a:t>
            </a:r>
            <a:r>
              <a:rPr lang="ru-RU" b="0" dirty="0" smtClean="0"/>
              <a:t> на </a:t>
            </a:r>
            <a:r>
              <a:rPr lang="ru-RU" b="0" dirty="0" err="1" smtClean="0"/>
              <a:t>семестъра</a:t>
            </a:r>
            <a:r>
              <a:rPr lang="ru-RU" b="0" dirty="0" smtClean="0"/>
              <a:t>)</a:t>
            </a:r>
            <a:endParaRPr lang="bg-BG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0" dirty="0"/>
              <a:t>Структура на проекта</a:t>
            </a:r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900" noProof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57633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lkCplnVtMHgQjcy6hj4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AE Design English">
  <a:themeElements>
    <a:clrScheme name="KOSTAL">
      <a:dk1>
        <a:srgbClr val="000000"/>
      </a:dk1>
      <a:lt1>
        <a:sysClr val="window" lastClr="FFFFFF"/>
      </a:lt1>
      <a:dk2>
        <a:srgbClr val="1E467D"/>
      </a:dk2>
      <a:lt2>
        <a:srgbClr val="EBEDED"/>
      </a:lt2>
      <a:accent1>
        <a:srgbClr val="1E467D"/>
      </a:accent1>
      <a:accent2>
        <a:srgbClr val="4B73A5"/>
      </a:accent2>
      <a:accent3>
        <a:srgbClr val="8CAFD2"/>
      </a:accent3>
      <a:accent4>
        <a:srgbClr val="D2E3EB"/>
      </a:accent4>
      <a:accent5>
        <a:srgbClr val="828787"/>
      </a:accent5>
      <a:accent6>
        <a:srgbClr val="C8CDCD"/>
      </a:accent6>
      <a:hlink>
        <a:srgbClr val="1E467D"/>
      </a:hlink>
      <a:folHlink>
        <a:srgbClr val="4B73A5"/>
      </a:folHlink>
    </a:clrScheme>
    <a:fontScheme name="KOS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lIns="72000" tIns="72000" rIns="72000" bIns="72000" rtlCol="0" anchor="ctr"/>
      <a:lstStyle>
        <a:defPPr algn="ctr">
          <a:defRPr sz="1600" b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rtlCol="0">
        <a:spAutoFit/>
      </a:bodyPr>
      <a:lstStyle>
        <a:defPPr>
          <a:lnSpc>
            <a:spcPct val="120000"/>
          </a:lnSpc>
          <a:spcBef>
            <a:spcPts val="600"/>
          </a:spcBef>
          <a:defRPr sz="1600" b="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  <a:custClrLst>
    <a:custClr name="Orange">
      <a:srgbClr val="FAC337"/>
    </a:custClr>
    <a:custClr name="Rot">
      <a:srgbClr val="9B0000"/>
    </a:custClr>
    <a:custClr name="Türkis-Blau">
      <a:srgbClr val="007DC8"/>
    </a:custClr>
    <a:custClr name="Grün">
      <a:srgbClr val="B4CD32"/>
    </a:custClr>
    <a:custClr name="RGB 0/155/155">
      <a:srgbClr val="009B9B"/>
    </a:custClr>
    <a:custClr name="Türkis-Grün hell">
      <a:srgbClr val="C8EBDC"/>
    </a:custClr>
    <a:custClr name="Violett">
      <a:srgbClr val="6E2864"/>
    </a:custClr>
    <a:custClr name="Pink">
      <a:srgbClr val="FF008C"/>
    </a:custClr>
    <a:custClr name="Textmarker-Gelb">
      <a:srgbClr val="FFFF00"/>
    </a:custClr>
  </a:custClrLst>
  <a:extLst>
    <a:ext uri="{05A4C25C-085E-4340-85A3-A5531E510DB2}">
      <thm15:themeFamily xmlns:thm15="http://schemas.microsoft.com/office/thememl/2012/main" name="A_englisch.potx" id="{588848E2-2723-4DBC-9966-D9B1656BC9A0}" vid="{600EFB8B-42CF-4452-B46D-CF065A359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1492122497CA4FAA26CBE87F271328" ma:contentTypeVersion="1" ma:contentTypeDescription="Create a new document." ma:contentTypeScope="" ma:versionID="e9f9918e8823961dccacc6ab99440758">
  <xsd:schema xmlns:xsd="http://www.w3.org/2001/XMLSchema" xmlns:xs="http://www.w3.org/2001/XMLSchema" xmlns:p="http://schemas.microsoft.com/office/2006/metadata/properties" xmlns:ns1="http://schemas.microsoft.com/sharepoint/v3" xmlns:ns2="fe2f6e1c-eed5-479c-b9e3-24541315acb7" targetNamespace="http://schemas.microsoft.com/office/2006/metadata/properties" ma:root="true" ma:fieldsID="81384155c07d7edf820f07bbd1fb7e75" ns1:_="" ns2:_="">
    <xsd:import namespace="http://schemas.microsoft.com/sharepoint/v3"/>
    <xsd:import namespace="fe2f6e1c-eed5-479c-b9e3-24541315acb7"/>
    <xsd:element name="properties">
      <xsd:complexType>
        <xsd:sequence>
          <xsd:element name="documentManagement">
            <xsd:complexType>
              <xsd:all>
                <xsd:element ref="ns1:Language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anguage" ma:index="8" nillable="true" ma:displayName="Language" ma:format="Dropdown" ma:internalName="Language">
      <xsd:simpleType>
        <xsd:restriction base="dms:Choice">
          <xsd:enumeration value="Arabic (Saudi Arabia)"/>
          <xsd:enumeration value="Bulgarian (Bulgaria)"/>
          <xsd:enumeration value="Chinese (Hong Kong S.A.R.)"/>
          <xsd:enumeration value="Chinese (People's Republic of China)"/>
          <xsd:enumeration value="Chinese (Taiwan)"/>
          <xsd:enumeration value="Croatian (Croatia)"/>
          <xsd:enumeration value="Czech (Czech Republic)"/>
          <xsd:enumeration value="Danish (Denmark)"/>
          <xsd:enumeration value="Dutch (Netherlands)"/>
          <xsd:enumeration value="English"/>
          <xsd:enumeration value="Estonian (Estonia)"/>
          <xsd:enumeration value="Finnish (Finland)"/>
          <xsd:enumeration value="French (France)"/>
          <xsd:enumeration value="German (Germany)"/>
          <xsd:enumeration value="Greek (Greece)"/>
          <xsd:enumeration value="Hebrew (Israel)"/>
          <xsd:enumeration value="Hindi (India)"/>
          <xsd:enumeration value="Hungarian (Hungary)"/>
          <xsd:enumeration value="Indonesian (Indonesia)"/>
          <xsd:enumeration value="Italian (Italy)"/>
          <xsd:enumeration value="Japanese (Japan)"/>
          <xsd:enumeration value="Korean (Korea)"/>
          <xsd:enumeration value="Latvian (Latvia)"/>
          <xsd:enumeration value="Lithuanian (Lithuania)"/>
          <xsd:enumeration value="Malay (Malaysia)"/>
          <xsd:enumeration value="Norwegian (Bokmal) (Norway)"/>
          <xsd:enumeration value="Polish (Poland)"/>
          <xsd:enumeration value="Portuguese (Brazil)"/>
          <xsd:enumeration value="Portuguese (Portugal)"/>
          <xsd:enumeration value="Romanian (Romania)"/>
          <xsd:enumeration value="Russian (Russia)"/>
          <xsd:enumeration value="Serbian (Latin) (Serbia)"/>
          <xsd:enumeration value="Slovak (Slovakia)"/>
          <xsd:enumeration value="Slovenian (Slovenia)"/>
          <xsd:enumeration value="Spanish (Spain)"/>
          <xsd:enumeration value="Swedish (Sweden)"/>
          <xsd:enumeration value="Thai (Thailand)"/>
          <xsd:enumeration value="Turkish (Turkey)"/>
          <xsd:enumeration value="Ukrainian (Ukraine)"/>
          <xsd:enumeration value="Urdu (Islamic Republic of Pakistan)"/>
          <xsd:enumeration value="Vietnamese (Vietnam)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2f6e1c-eed5-479c-b9e3-24541315acb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nguage xmlns="http://schemas.microsoft.com/sharepoint/v3" xsi:nil="true"/>
  </documentManagement>
</p:properties>
</file>

<file path=customXml/item3.xml><?xml version="1.0" encoding="utf-8"?>
<?mso-contentType ?>
<SharedContentType xmlns="Microsoft.SharePoint.Taxonomy.ContentTypeSync" SourceId="66366095-a18c-4cb3-a1ea-2fdfefee6388" ContentTypeId="0x0101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9D212C-501E-464F-B429-0FE6787FD4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e2f6e1c-eed5-479c-b9e3-24541315ac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4679B6-BAAF-42AA-A041-99D1082FBB1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fe2f6e1c-eed5-479c-b9e3-24541315acb7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803BD61-9464-488F-928B-C99FAFEDD614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B2996D40-5EDC-4DBF-9B52-0DFA6D2BBC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A_englisch</Template>
  <TotalTime>0</TotalTime>
  <Words>1496</Words>
  <Application>Microsoft Office PowerPoint</Application>
  <PresentationFormat>Widescreen</PresentationFormat>
  <Paragraphs>205</Paragraphs>
  <Slides>12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Lucida Sans Unicode</vt:lpstr>
      <vt:lpstr>Wingdings</vt:lpstr>
      <vt:lpstr>KAE Design English</vt:lpstr>
      <vt:lpstr>think-cell Folie</vt:lpstr>
      <vt:lpstr>Задание за проектиране на автомобилна електроника</vt:lpstr>
      <vt:lpstr>Тема и цел на разработката: Управление на автомобилно огледало </vt:lpstr>
      <vt:lpstr>Задачи при изпълнение на проекта</vt:lpstr>
      <vt:lpstr>Резултати от изпълнението на целите</vt:lpstr>
      <vt:lpstr>Екип за изпълнение на заданието</vt:lpstr>
      <vt:lpstr>Конкретни задачи за изпълнение</vt:lpstr>
      <vt:lpstr>Протокол за диагностика</vt:lpstr>
      <vt:lpstr>Критерии за оценяване I</vt:lpstr>
      <vt:lpstr>Критерии за оценяване II</vt:lpstr>
      <vt:lpstr>График на предаване</vt:lpstr>
      <vt:lpstr>Скала за оценяване</vt:lpstr>
      <vt:lpstr>Структура на проекта</vt:lpstr>
    </vt:vector>
  </TitlesOfParts>
  <Company>KOSTAL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Yordanov, Emiliyan</dc:creator>
  <cp:lastModifiedBy>Yordanov, Emiliyan</cp:lastModifiedBy>
  <cp:revision>39</cp:revision>
  <dcterms:created xsi:type="dcterms:W3CDTF">2025-06-09T14:00:54Z</dcterms:created>
  <dcterms:modified xsi:type="dcterms:W3CDTF">2025-09-12T14:42:53Z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0x010100C81492122497CA4FAA26CBE87F271328</vt:lpwstr>
  </property>
</Properties>
</file>